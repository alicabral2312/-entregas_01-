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1"/>
  </p:notesMasterIdLst>
  <p:handoutMasterIdLst>
    <p:handoutMasterId r:id="rId22"/>
  </p:handoutMasterIdLst>
  <p:sldIdLst>
    <p:sldId id="1497" r:id="rId5"/>
    <p:sldId id="1514" r:id="rId6"/>
    <p:sldId id="1502" r:id="rId7"/>
    <p:sldId id="1515" r:id="rId8"/>
    <p:sldId id="1512" r:id="rId9"/>
    <p:sldId id="1516" r:id="rId10"/>
    <p:sldId id="1517" r:id="rId11"/>
    <p:sldId id="1518" r:id="rId12"/>
    <p:sldId id="1519" r:id="rId13"/>
    <p:sldId id="1520" r:id="rId14"/>
    <p:sldId id="1521" r:id="rId15"/>
    <p:sldId id="1523" r:id="rId16"/>
    <p:sldId id="1524" r:id="rId17"/>
    <p:sldId id="1525" r:id="rId18"/>
    <p:sldId id="1526" r:id="rId19"/>
    <p:sldId id="152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2D4B2-8742-8F1E-4298-3A025BBE2464}" v="671" dt="2026-08-29T05:34:52.050"/>
    <p1510:client id="{846A1CD8-1879-4187-8AFE-AEE1B2061CF4}" v="1" dt="2026-08-29T07:03:14.633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9" autoAdjust="0"/>
  </p:normalViewPr>
  <p:slideViewPr>
    <p:cSldViewPr snapToGrid="0">
      <p:cViewPr varScale="1">
        <p:scale>
          <a:sx n="57" d="100"/>
          <a:sy n="57" d="100"/>
        </p:scale>
        <p:origin x="9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ON CABRAL" userId="5d01eb5db58cea04" providerId="LiveId" clId="{8680B65B-E6C1-4F6C-8617-459F6955D341}"/>
    <pc:docChg chg="undo custSel delSld modSld">
      <pc:chgData name="ALISON CABRAL" userId="5d01eb5db58cea04" providerId="LiveId" clId="{8680B65B-E6C1-4F6C-8617-459F6955D341}" dt="2026-08-29T07:06:44.797" v="362" actId="1076"/>
      <pc:docMkLst>
        <pc:docMk/>
      </pc:docMkLst>
      <pc:sldChg chg="addSp modSp mod">
        <pc:chgData name="ALISON CABRAL" userId="5d01eb5db58cea04" providerId="LiveId" clId="{8680B65B-E6C1-4F6C-8617-459F6955D341}" dt="2026-08-29T07:06:44.797" v="362" actId="1076"/>
        <pc:sldMkLst>
          <pc:docMk/>
          <pc:sldMk cId="1773831372" sldId="1497"/>
        </pc:sldMkLst>
        <pc:spChg chg="mod">
          <ac:chgData name="ALISON CABRAL" userId="5d01eb5db58cea04" providerId="LiveId" clId="{8680B65B-E6C1-4F6C-8617-459F6955D341}" dt="2026-08-29T07:06:44.797" v="362" actId="1076"/>
          <ac:spMkLst>
            <pc:docMk/>
            <pc:sldMk cId="1773831372" sldId="1497"/>
            <ac:spMk id="2" creationId="{1F057989-07E4-B482-9F2A-EBF670F7FA92}"/>
          </ac:spMkLst>
        </pc:spChg>
        <pc:spChg chg="mod">
          <ac:chgData name="ALISON CABRAL" userId="5d01eb5db58cea04" providerId="LiveId" clId="{8680B65B-E6C1-4F6C-8617-459F6955D341}" dt="2026-08-29T07:06:33.197" v="357" actId="1076"/>
          <ac:spMkLst>
            <pc:docMk/>
            <pc:sldMk cId="1773831372" sldId="1497"/>
            <ac:spMk id="3" creationId="{363CF5F8-0028-8636-5006-5D5C52B32774}"/>
          </ac:spMkLst>
        </pc:spChg>
        <pc:picChg chg="add mod modCrop">
          <ac:chgData name="ALISON CABRAL" userId="5d01eb5db58cea04" providerId="LiveId" clId="{8680B65B-E6C1-4F6C-8617-459F6955D341}" dt="2026-08-29T07:06:40.365" v="361" actId="1076"/>
          <ac:picMkLst>
            <pc:docMk/>
            <pc:sldMk cId="1773831372" sldId="1497"/>
            <ac:picMk id="5" creationId="{B32CAF2A-D3D2-2AA2-C018-F9980F1BE9D1}"/>
          </ac:picMkLst>
        </pc:picChg>
      </pc:sldChg>
      <pc:sldChg chg="addSp modSp mod">
        <pc:chgData name="ALISON CABRAL" userId="5d01eb5db58cea04" providerId="LiveId" clId="{8680B65B-E6C1-4F6C-8617-459F6955D341}" dt="2026-08-29T06:49:10.365" v="121" actId="1076"/>
        <pc:sldMkLst>
          <pc:docMk/>
          <pc:sldMk cId="1858387724" sldId="1502"/>
        </pc:sldMkLst>
        <pc:spChg chg="mod">
          <ac:chgData name="ALISON CABRAL" userId="5d01eb5db58cea04" providerId="LiveId" clId="{8680B65B-E6C1-4F6C-8617-459F6955D341}" dt="2026-08-29T06:48:12.959" v="108" actId="1076"/>
          <ac:spMkLst>
            <pc:docMk/>
            <pc:sldMk cId="1858387724" sldId="1502"/>
            <ac:spMk id="2" creationId="{76A360D7-F74C-CD9E-C576-1CB8FFE8778E}"/>
          </ac:spMkLst>
        </pc:spChg>
        <pc:spChg chg="mod">
          <ac:chgData name="ALISON CABRAL" userId="5d01eb5db58cea04" providerId="LiveId" clId="{8680B65B-E6C1-4F6C-8617-459F6955D341}" dt="2026-08-29T06:48:24.316" v="111" actId="1076"/>
          <ac:spMkLst>
            <pc:docMk/>
            <pc:sldMk cId="1858387724" sldId="1502"/>
            <ac:spMk id="3" creationId="{F8289302-0423-6EC1-0FA2-B4C16AEBFEAC}"/>
          </ac:spMkLst>
        </pc:spChg>
        <pc:spChg chg="mod">
          <ac:chgData name="ALISON CABRAL" userId="5d01eb5db58cea04" providerId="LiveId" clId="{8680B65B-E6C1-4F6C-8617-459F6955D341}" dt="2026-08-29T06:48:27.181" v="112" actId="1076"/>
          <ac:spMkLst>
            <pc:docMk/>
            <pc:sldMk cId="1858387724" sldId="1502"/>
            <ac:spMk id="5" creationId="{9BAF2A78-718A-0502-5AB1-9EDF2FC1B26C}"/>
          </ac:spMkLst>
        </pc:spChg>
        <pc:picChg chg="add mod modCrop">
          <ac:chgData name="ALISON CABRAL" userId="5d01eb5db58cea04" providerId="LiveId" clId="{8680B65B-E6C1-4F6C-8617-459F6955D341}" dt="2026-08-29T06:49:10.365" v="121" actId="1076"/>
          <ac:picMkLst>
            <pc:docMk/>
            <pc:sldMk cId="1858387724" sldId="1502"/>
            <ac:picMk id="6" creationId="{B090059E-0F1E-93EC-1F55-546D74E020A3}"/>
          </ac:picMkLst>
        </pc:picChg>
      </pc:sldChg>
      <pc:sldChg chg="modSp mod">
        <pc:chgData name="ALISON CABRAL" userId="5d01eb5db58cea04" providerId="LiveId" clId="{8680B65B-E6C1-4F6C-8617-459F6955D341}" dt="2026-08-29T06:51:21.591" v="142" actId="1076"/>
        <pc:sldMkLst>
          <pc:docMk/>
          <pc:sldMk cId="3272732094" sldId="1512"/>
        </pc:sldMkLst>
        <pc:spChg chg="mod">
          <ac:chgData name="ALISON CABRAL" userId="5d01eb5db58cea04" providerId="LiveId" clId="{8680B65B-E6C1-4F6C-8617-459F6955D341}" dt="2026-08-29T06:51:19.167" v="141" actId="1076"/>
          <ac:spMkLst>
            <pc:docMk/>
            <pc:sldMk cId="3272732094" sldId="1512"/>
            <ac:spMk id="2" creationId="{29BA87EA-8BB3-79C6-656A-1A8ABD658D7E}"/>
          </ac:spMkLst>
        </pc:spChg>
        <pc:spChg chg="mod">
          <ac:chgData name="ALISON CABRAL" userId="5d01eb5db58cea04" providerId="LiveId" clId="{8680B65B-E6C1-4F6C-8617-459F6955D341}" dt="2026-08-29T06:51:21.591" v="142" actId="1076"/>
          <ac:spMkLst>
            <pc:docMk/>
            <pc:sldMk cId="3272732094" sldId="1512"/>
            <ac:spMk id="3" creationId="{E61DF94A-DA27-1E29-408E-F5360E814FB0}"/>
          </ac:spMkLst>
        </pc:spChg>
      </pc:sldChg>
      <pc:sldChg chg="addSp modSp mod">
        <pc:chgData name="ALISON CABRAL" userId="5d01eb5db58cea04" providerId="LiveId" clId="{8680B65B-E6C1-4F6C-8617-459F6955D341}" dt="2026-08-29T06:48:00.452" v="103" actId="1076"/>
        <pc:sldMkLst>
          <pc:docMk/>
          <pc:sldMk cId="2002021855" sldId="1514"/>
        </pc:sldMkLst>
        <pc:spChg chg="mod">
          <ac:chgData name="ALISON CABRAL" userId="5d01eb5db58cea04" providerId="LiveId" clId="{8680B65B-E6C1-4F6C-8617-459F6955D341}" dt="2026-08-29T06:46:28.098" v="85" actId="14100"/>
          <ac:spMkLst>
            <pc:docMk/>
            <pc:sldMk cId="2002021855" sldId="1514"/>
            <ac:spMk id="3" creationId="{8DE9521F-CC42-235E-F804-B826A36205D1}"/>
          </ac:spMkLst>
        </pc:spChg>
        <pc:spChg chg="mod">
          <ac:chgData name="ALISON CABRAL" userId="5d01eb5db58cea04" providerId="LiveId" clId="{8680B65B-E6C1-4F6C-8617-459F6955D341}" dt="2026-08-29T06:46:32.568" v="86" actId="1076"/>
          <ac:spMkLst>
            <pc:docMk/>
            <pc:sldMk cId="2002021855" sldId="1514"/>
            <ac:spMk id="7" creationId="{B337CF04-51EA-CFF9-06E2-CA333B9069F5}"/>
          </ac:spMkLst>
        </pc:spChg>
        <pc:picChg chg="add mod modCrop">
          <ac:chgData name="ALISON CABRAL" userId="5d01eb5db58cea04" providerId="LiveId" clId="{8680B65B-E6C1-4F6C-8617-459F6955D341}" dt="2026-08-29T06:47:42.029" v="95" actId="14100"/>
          <ac:picMkLst>
            <pc:docMk/>
            <pc:sldMk cId="2002021855" sldId="1514"/>
            <ac:picMk id="5" creationId="{55F8F054-1C13-BA4F-764A-B735D570D1B3}"/>
          </ac:picMkLst>
        </pc:picChg>
        <pc:picChg chg="add mod modCrop">
          <ac:chgData name="ALISON CABRAL" userId="5d01eb5db58cea04" providerId="LiveId" clId="{8680B65B-E6C1-4F6C-8617-459F6955D341}" dt="2026-08-29T06:48:00.452" v="103" actId="1076"/>
          <ac:picMkLst>
            <pc:docMk/>
            <pc:sldMk cId="2002021855" sldId="1514"/>
            <ac:picMk id="8" creationId="{5B84EFB5-1DE0-A141-4348-A50986005A5B}"/>
          </ac:picMkLst>
        </pc:picChg>
      </pc:sldChg>
      <pc:sldChg chg="addSp modSp mod">
        <pc:chgData name="ALISON CABRAL" userId="5d01eb5db58cea04" providerId="LiveId" clId="{8680B65B-E6C1-4F6C-8617-459F6955D341}" dt="2026-08-29T06:51:06.600" v="139" actId="14100"/>
        <pc:sldMkLst>
          <pc:docMk/>
          <pc:sldMk cId="3538511768" sldId="1515"/>
        </pc:sldMkLst>
        <pc:spChg chg="mod">
          <ac:chgData name="ALISON CABRAL" userId="5d01eb5db58cea04" providerId="LiveId" clId="{8680B65B-E6C1-4F6C-8617-459F6955D341}" dt="2026-08-29T06:50:27.259" v="128" actId="404"/>
          <ac:spMkLst>
            <pc:docMk/>
            <pc:sldMk cId="3538511768" sldId="1515"/>
            <ac:spMk id="2" creationId="{EA09A6D6-06EF-D730-DF4A-FD7925B29DED}"/>
          </ac:spMkLst>
        </pc:spChg>
        <pc:spChg chg="mod">
          <ac:chgData name="ALISON CABRAL" userId="5d01eb5db58cea04" providerId="LiveId" clId="{8680B65B-E6C1-4F6C-8617-459F6955D341}" dt="2026-08-29T06:38:42.862" v="25" actId="14100"/>
          <ac:spMkLst>
            <pc:docMk/>
            <pc:sldMk cId="3538511768" sldId="1515"/>
            <ac:spMk id="3" creationId="{2E4ECF0E-5ABB-7307-4007-BA9280BDF9A2}"/>
          </ac:spMkLst>
        </pc:spChg>
        <pc:picChg chg="add mod modCrop">
          <ac:chgData name="ALISON CABRAL" userId="5d01eb5db58cea04" providerId="LiveId" clId="{8680B65B-E6C1-4F6C-8617-459F6955D341}" dt="2026-08-29T06:51:06.600" v="139" actId="14100"/>
          <ac:picMkLst>
            <pc:docMk/>
            <pc:sldMk cId="3538511768" sldId="1515"/>
            <ac:picMk id="5" creationId="{2BE83C8A-EF9A-2A7A-4B3D-2CC5AC9B5347}"/>
          </ac:picMkLst>
        </pc:picChg>
      </pc:sldChg>
      <pc:sldChg chg="modSp mod">
        <pc:chgData name="ALISON CABRAL" userId="5d01eb5db58cea04" providerId="LiveId" clId="{8680B65B-E6C1-4F6C-8617-459F6955D341}" dt="2026-08-29T06:52:17.111" v="159" actId="1076"/>
        <pc:sldMkLst>
          <pc:docMk/>
          <pc:sldMk cId="3485418531" sldId="1516"/>
        </pc:sldMkLst>
        <pc:spChg chg="mod">
          <ac:chgData name="ALISON CABRAL" userId="5d01eb5db58cea04" providerId="LiveId" clId="{8680B65B-E6C1-4F6C-8617-459F6955D341}" dt="2026-08-29T06:51:37.743" v="145" actId="14100"/>
          <ac:spMkLst>
            <pc:docMk/>
            <pc:sldMk cId="3485418531" sldId="1516"/>
            <ac:spMk id="2" creationId="{2BC327C8-7409-09CD-5A91-E2F2FE85CCA8}"/>
          </ac:spMkLst>
        </pc:spChg>
        <pc:spChg chg="mod">
          <ac:chgData name="ALISON CABRAL" userId="5d01eb5db58cea04" providerId="LiveId" clId="{8680B65B-E6C1-4F6C-8617-459F6955D341}" dt="2026-08-29T06:52:17.111" v="159" actId="1076"/>
          <ac:spMkLst>
            <pc:docMk/>
            <pc:sldMk cId="3485418531" sldId="1516"/>
            <ac:spMk id="3" creationId="{B159670C-A0CB-16AF-A780-FD864F234E99}"/>
          </ac:spMkLst>
        </pc:spChg>
      </pc:sldChg>
      <pc:sldChg chg="addSp modSp mod">
        <pc:chgData name="ALISON CABRAL" userId="5d01eb5db58cea04" providerId="LiveId" clId="{8680B65B-E6C1-4F6C-8617-459F6955D341}" dt="2026-08-29T06:53:19.004" v="179" actId="1076"/>
        <pc:sldMkLst>
          <pc:docMk/>
          <pc:sldMk cId="1348782277" sldId="1517"/>
        </pc:sldMkLst>
        <pc:spChg chg="mod">
          <ac:chgData name="ALISON CABRAL" userId="5d01eb5db58cea04" providerId="LiveId" clId="{8680B65B-E6C1-4F6C-8617-459F6955D341}" dt="2026-08-29T06:53:08.273" v="175" actId="1076"/>
          <ac:spMkLst>
            <pc:docMk/>
            <pc:sldMk cId="1348782277" sldId="1517"/>
            <ac:spMk id="2" creationId="{DC5C146F-D4C4-04AB-7419-0380D959A5E1}"/>
          </ac:spMkLst>
        </pc:spChg>
        <pc:spChg chg="mod">
          <ac:chgData name="ALISON CABRAL" userId="5d01eb5db58cea04" providerId="LiveId" clId="{8680B65B-E6C1-4F6C-8617-459F6955D341}" dt="2026-08-29T06:53:00.251" v="169" actId="1076"/>
          <ac:spMkLst>
            <pc:docMk/>
            <pc:sldMk cId="1348782277" sldId="1517"/>
            <ac:spMk id="3" creationId="{9F41ECB8-EE42-8692-3FA3-76963BABBC55}"/>
          </ac:spMkLst>
        </pc:spChg>
        <pc:picChg chg="add mod modCrop">
          <ac:chgData name="ALISON CABRAL" userId="5d01eb5db58cea04" providerId="LiveId" clId="{8680B65B-E6C1-4F6C-8617-459F6955D341}" dt="2026-08-29T06:53:19.004" v="179" actId="1076"/>
          <ac:picMkLst>
            <pc:docMk/>
            <pc:sldMk cId="1348782277" sldId="1517"/>
            <ac:picMk id="5" creationId="{CC0562EB-8E64-36AE-010C-C8F78EC13340}"/>
          </ac:picMkLst>
        </pc:picChg>
      </pc:sldChg>
      <pc:sldChg chg="modSp mod">
        <pc:chgData name="ALISON CABRAL" userId="5d01eb5db58cea04" providerId="LiveId" clId="{8680B65B-E6C1-4F6C-8617-459F6955D341}" dt="2026-08-29T06:53:38.262" v="187" actId="404"/>
        <pc:sldMkLst>
          <pc:docMk/>
          <pc:sldMk cId="527135968" sldId="1518"/>
        </pc:sldMkLst>
        <pc:spChg chg="mod">
          <ac:chgData name="ALISON CABRAL" userId="5d01eb5db58cea04" providerId="LiveId" clId="{8680B65B-E6C1-4F6C-8617-459F6955D341}" dt="2026-08-29T06:53:38.262" v="187" actId="404"/>
          <ac:spMkLst>
            <pc:docMk/>
            <pc:sldMk cId="527135968" sldId="1518"/>
            <ac:spMk id="2" creationId="{6DBF4E9A-00C8-B779-4E0B-4DAA7D48959A}"/>
          </ac:spMkLst>
        </pc:spChg>
      </pc:sldChg>
      <pc:sldChg chg="addSp delSp modSp mod">
        <pc:chgData name="ALISON CABRAL" userId="5d01eb5db58cea04" providerId="LiveId" clId="{8680B65B-E6C1-4F6C-8617-459F6955D341}" dt="2026-08-29T06:43:24.316" v="52" actId="1076"/>
        <pc:sldMkLst>
          <pc:docMk/>
          <pc:sldMk cId="1908344059" sldId="1519"/>
        </pc:sldMkLst>
        <pc:spChg chg="mod">
          <ac:chgData name="ALISON CABRAL" userId="5d01eb5db58cea04" providerId="LiveId" clId="{8680B65B-E6C1-4F6C-8617-459F6955D341}" dt="2026-08-29T06:43:08.965" v="46" actId="1076"/>
          <ac:spMkLst>
            <pc:docMk/>
            <pc:sldMk cId="1908344059" sldId="1519"/>
            <ac:spMk id="2" creationId="{7144CB12-9BA6-2154-E2D2-707D001DE274}"/>
          </ac:spMkLst>
        </pc:spChg>
        <pc:spChg chg="del mod">
          <ac:chgData name="ALISON CABRAL" userId="5d01eb5db58cea04" providerId="LiveId" clId="{8680B65B-E6C1-4F6C-8617-459F6955D341}" dt="2026-08-29T06:42:58.934" v="41" actId="478"/>
          <ac:spMkLst>
            <pc:docMk/>
            <pc:sldMk cId="1908344059" sldId="1519"/>
            <ac:spMk id="3" creationId="{E4E877DD-7859-7D2B-EF4C-9E1F0109B0C8}"/>
          </ac:spMkLst>
        </pc:spChg>
        <pc:picChg chg="add mod modCrop">
          <ac:chgData name="ALISON CABRAL" userId="5d01eb5db58cea04" providerId="LiveId" clId="{8680B65B-E6C1-4F6C-8617-459F6955D341}" dt="2026-08-29T06:43:24.316" v="52" actId="1076"/>
          <ac:picMkLst>
            <pc:docMk/>
            <pc:sldMk cId="1908344059" sldId="1519"/>
            <ac:picMk id="5" creationId="{CB1379C5-C1FB-649B-CD17-545089420CEC}"/>
          </ac:picMkLst>
        </pc:picChg>
      </pc:sldChg>
      <pc:sldChg chg="addSp delSp modSp mod">
        <pc:chgData name="ALISON CABRAL" userId="5d01eb5db58cea04" providerId="LiveId" clId="{8680B65B-E6C1-4F6C-8617-459F6955D341}" dt="2026-08-29T06:56:08.052" v="203" actId="14100"/>
        <pc:sldMkLst>
          <pc:docMk/>
          <pc:sldMk cId="3117096844" sldId="1520"/>
        </pc:sldMkLst>
        <pc:spChg chg="mod">
          <ac:chgData name="ALISON CABRAL" userId="5d01eb5db58cea04" providerId="LiveId" clId="{8680B65B-E6C1-4F6C-8617-459F6955D341}" dt="2026-08-29T06:56:04.301" v="201" actId="1076"/>
          <ac:spMkLst>
            <pc:docMk/>
            <pc:sldMk cId="3117096844" sldId="1520"/>
            <ac:spMk id="3" creationId="{F65CF69D-0D0C-7F3A-689C-D5487D6BC55D}"/>
          </ac:spMkLst>
        </pc:spChg>
        <pc:spChg chg="add del">
          <ac:chgData name="ALISON CABRAL" userId="5d01eb5db58cea04" providerId="LiveId" clId="{8680B65B-E6C1-4F6C-8617-459F6955D341}" dt="2026-08-29T06:43:44.733" v="58" actId="478"/>
          <ac:spMkLst>
            <pc:docMk/>
            <pc:sldMk cId="3117096844" sldId="1520"/>
            <ac:spMk id="5" creationId="{7199D9DB-0597-6ADB-1D67-1DFC3FF073D6}"/>
          </ac:spMkLst>
        </pc:spChg>
        <pc:spChg chg="add del">
          <ac:chgData name="ALISON CABRAL" userId="5d01eb5db58cea04" providerId="LiveId" clId="{8680B65B-E6C1-4F6C-8617-459F6955D341}" dt="2026-08-29T06:55:27.912" v="192" actId="478"/>
          <ac:spMkLst>
            <pc:docMk/>
            <pc:sldMk cId="3117096844" sldId="1520"/>
            <ac:spMk id="9" creationId="{36CBD3D6-26DD-12A7-BC2C-EE0D92FD187E}"/>
          </ac:spMkLst>
        </pc:spChg>
        <pc:picChg chg="add del mod">
          <ac:chgData name="ALISON CABRAL" userId="5d01eb5db58cea04" providerId="LiveId" clId="{8680B65B-E6C1-4F6C-8617-459F6955D341}" dt="2026-08-29T06:43:58.585" v="61" actId="478"/>
          <ac:picMkLst>
            <pc:docMk/>
            <pc:sldMk cId="3117096844" sldId="1520"/>
            <ac:picMk id="7" creationId="{1D381E83-E55F-948B-AA93-4219463D23AC}"/>
          </ac:picMkLst>
        </pc:picChg>
        <pc:picChg chg="add mod modCrop">
          <ac:chgData name="ALISON CABRAL" userId="5d01eb5db58cea04" providerId="LiveId" clId="{8680B65B-E6C1-4F6C-8617-459F6955D341}" dt="2026-08-29T06:56:08.052" v="203" actId="14100"/>
          <ac:picMkLst>
            <pc:docMk/>
            <pc:sldMk cId="3117096844" sldId="1520"/>
            <ac:picMk id="11" creationId="{97F490A7-E643-2538-DACD-C8B70B5AF493}"/>
          </ac:picMkLst>
        </pc:picChg>
      </pc:sldChg>
      <pc:sldChg chg="addSp delSp modSp mod">
        <pc:chgData name="ALISON CABRAL" userId="5d01eb5db58cea04" providerId="LiveId" clId="{8680B65B-E6C1-4F6C-8617-459F6955D341}" dt="2026-08-29T06:58:44.658" v="216" actId="478"/>
        <pc:sldMkLst>
          <pc:docMk/>
          <pc:sldMk cId="4193043005" sldId="1521"/>
        </pc:sldMkLst>
        <pc:spChg chg="mod">
          <ac:chgData name="ALISON CABRAL" userId="5d01eb5db58cea04" providerId="LiveId" clId="{8680B65B-E6C1-4F6C-8617-459F6955D341}" dt="2026-08-29T06:56:38.806" v="214" actId="1076"/>
          <ac:spMkLst>
            <pc:docMk/>
            <pc:sldMk cId="4193043005" sldId="1521"/>
            <ac:spMk id="2" creationId="{41F7E170-61F7-DC72-877A-CCC5B51D2A21}"/>
          </ac:spMkLst>
        </pc:spChg>
        <pc:spChg chg="mod">
          <ac:chgData name="ALISON CABRAL" userId="5d01eb5db58cea04" providerId="LiveId" clId="{8680B65B-E6C1-4F6C-8617-459F6955D341}" dt="2026-08-29T06:56:34.799" v="213" actId="1076"/>
          <ac:spMkLst>
            <pc:docMk/>
            <pc:sldMk cId="4193043005" sldId="1521"/>
            <ac:spMk id="3" creationId="{EBB6A2C2-33D1-8FC3-3653-A969917F81D3}"/>
          </ac:spMkLst>
        </pc:spChg>
        <pc:picChg chg="add del mod">
          <ac:chgData name="ALISON CABRAL" userId="5d01eb5db58cea04" providerId="LiveId" clId="{8680B65B-E6C1-4F6C-8617-459F6955D341}" dt="2026-08-29T06:58:44.658" v="216" actId="478"/>
          <ac:picMkLst>
            <pc:docMk/>
            <pc:sldMk cId="4193043005" sldId="1521"/>
            <ac:picMk id="5" creationId="{4231643A-FE85-EFC0-66AC-52A3F331072D}"/>
          </ac:picMkLst>
        </pc:picChg>
      </pc:sldChg>
      <pc:sldChg chg="modSp del mod">
        <pc:chgData name="ALISON CABRAL" userId="5d01eb5db58cea04" providerId="LiveId" clId="{8680B65B-E6C1-4F6C-8617-459F6955D341}" dt="2026-08-29T06:58:55.274" v="218" actId="2696"/>
        <pc:sldMkLst>
          <pc:docMk/>
          <pc:sldMk cId="3948077946" sldId="1522"/>
        </pc:sldMkLst>
        <pc:spChg chg="mod">
          <ac:chgData name="ALISON CABRAL" userId="5d01eb5db58cea04" providerId="LiveId" clId="{8680B65B-E6C1-4F6C-8617-459F6955D341}" dt="2026-08-29T06:58:49.262" v="217" actId="122"/>
          <ac:spMkLst>
            <pc:docMk/>
            <pc:sldMk cId="3948077946" sldId="1522"/>
            <ac:spMk id="2" creationId="{E3A9573B-6262-F745-17D2-3ABBBEAACE6A}"/>
          </ac:spMkLst>
        </pc:spChg>
      </pc:sldChg>
      <pc:sldChg chg="modSp mod">
        <pc:chgData name="ALISON CABRAL" userId="5d01eb5db58cea04" providerId="LiveId" clId="{8680B65B-E6C1-4F6C-8617-459F6955D341}" dt="2026-08-29T06:59:21.892" v="233" actId="403"/>
        <pc:sldMkLst>
          <pc:docMk/>
          <pc:sldMk cId="3882409748" sldId="1523"/>
        </pc:sldMkLst>
        <pc:spChg chg="mod">
          <ac:chgData name="ALISON CABRAL" userId="5d01eb5db58cea04" providerId="LiveId" clId="{8680B65B-E6C1-4F6C-8617-459F6955D341}" dt="2026-08-29T06:59:06.830" v="224" actId="1076"/>
          <ac:spMkLst>
            <pc:docMk/>
            <pc:sldMk cId="3882409748" sldId="1523"/>
            <ac:spMk id="2" creationId="{A0A072AB-C3AE-01C0-FA31-3B3D7C301B11}"/>
          </ac:spMkLst>
        </pc:spChg>
        <pc:spChg chg="mod">
          <ac:chgData name="ALISON CABRAL" userId="5d01eb5db58cea04" providerId="LiveId" clId="{8680B65B-E6C1-4F6C-8617-459F6955D341}" dt="2026-08-29T06:59:21.892" v="233" actId="403"/>
          <ac:spMkLst>
            <pc:docMk/>
            <pc:sldMk cId="3882409748" sldId="1523"/>
            <ac:spMk id="3" creationId="{723C1651-EA45-C898-683A-B10498A7F87C}"/>
          </ac:spMkLst>
        </pc:spChg>
      </pc:sldChg>
      <pc:sldChg chg="modSp mod">
        <pc:chgData name="ALISON CABRAL" userId="5d01eb5db58cea04" providerId="LiveId" clId="{8680B65B-E6C1-4F6C-8617-459F6955D341}" dt="2026-08-29T07:00:12.463" v="249" actId="1076"/>
        <pc:sldMkLst>
          <pc:docMk/>
          <pc:sldMk cId="1106269164" sldId="1525"/>
        </pc:sldMkLst>
        <pc:spChg chg="mod">
          <ac:chgData name="ALISON CABRAL" userId="5d01eb5db58cea04" providerId="LiveId" clId="{8680B65B-E6C1-4F6C-8617-459F6955D341}" dt="2026-08-29T07:00:07.056" v="248" actId="1076"/>
          <ac:spMkLst>
            <pc:docMk/>
            <pc:sldMk cId="1106269164" sldId="1525"/>
            <ac:spMk id="3" creationId="{947CC766-62C4-A097-93F5-CC6F105EEDE8}"/>
          </ac:spMkLst>
        </pc:spChg>
        <pc:spChg chg="mod">
          <ac:chgData name="ALISON CABRAL" userId="5d01eb5db58cea04" providerId="LiveId" clId="{8680B65B-E6C1-4F6C-8617-459F6955D341}" dt="2026-08-29T07:00:12.463" v="249" actId="1076"/>
          <ac:spMkLst>
            <pc:docMk/>
            <pc:sldMk cId="1106269164" sldId="1525"/>
            <ac:spMk id="4" creationId="{101C65CB-D3A0-5EFD-2874-ADCA4D0C4E79}"/>
          </ac:spMkLst>
        </pc:spChg>
      </pc:sldChg>
      <pc:sldChg chg="modSp mod">
        <pc:chgData name="ALISON CABRAL" userId="5d01eb5db58cea04" providerId="LiveId" clId="{8680B65B-E6C1-4F6C-8617-459F6955D341}" dt="2026-08-29T07:00:47.900" v="268" actId="113"/>
        <pc:sldMkLst>
          <pc:docMk/>
          <pc:sldMk cId="44488156" sldId="1526"/>
        </pc:sldMkLst>
        <pc:spChg chg="mod">
          <ac:chgData name="ALISON CABRAL" userId="5d01eb5db58cea04" providerId="LiveId" clId="{8680B65B-E6C1-4F6C-8617-459F6955D341}" dt="2026-08-29T07:00:27.024" v="260" actId="14100"/>
          <ac:spMkLst>
            <pc:docMk/>
            <pc:sldMk cId="44488156" sldId="1526"/>
            <ac:spMk id="2" creationId="{90431AC1-6815-E047-D3FD-437A6C6946E1}"/>
          </ac:spMkLst>
        </pc:spChg>
        <pc:spChg chg="mod">
          <ac:chgData name="ALISON CABRAL" userId="5d01eb5db58cea04" providerId="LiveId" clId="{8680B65B-E6C1-4F6C-8617-459F6955D341}" dt="2026-08-29T07:00:47.900" v="268" actId="113"/>
          <ac:spMkLst>
            <pc:docMk/>
            <pc:sldMk cId="44488156" sldId="1526"/>
            <ac:spMk id="5" creationId="{369C332C-8EC2-883D-38A2-FF5C8FF724F5}"/>
          </ac:spMkLst>
        </pc:spChg>
      </pc:sldChg>
      <pc:sldChg chg="modSp mod">
        <pc:chgData name="ALISON CABRAL" userId="5d01eb5db58cea04" providerId="LiveId" clId="{8680B65B-E6C1-4F6C-8617-459F6955D341}" dt="2026-08-29T07:01:10.585" v="276" actId="1076"/>
        <pc:sldMkLst>
          <pc:docMk/>
          <pc:sldMk cId="1231304399" sldId="1527"/>
        </pc:sldMkLst>
        <pc:spChg chg="mod">
          <ac:chgData name="ALISON CABRAL" userId="5d01eb5db58cea04" providerId="LiveId" clId="{8680B65B-E6C1-4F6C-8617-459F6955D341}" dt="2026-08-29T07:01:01.904" v="272" actId="113"/>
          <ac:spMkLst>
            <pc:docMk/>
            <pc:sldMk cId="1231304399" sldId="1527"/>
            <ac:spMk id="2" creationId="{8A0B6C04-8DE8-89E7-10FC-1B3185ACCB56}"/>
          </ac:spMkLst>
        </pc:spChg>
        <pc:spChg chg="mod">
          <ac:chgData name="ALISON CABRAL" userId="5d01eb5db58cea04" providerId="LiveId" clId="{8680B65B-E6C1-4F6C-8617-459F6955D341}" dt="2026-08-29T07:01:10.585" v="276" actId="1076"/>
          <ac:spMkLst>
            <pc:docMk/>
            <pc:sldMk cId="1231304399" sldId="1527"/>
            <ac:spMk id="3" creationId="{F0526097-201E-01B6-5057-6C70DDC9E70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86" y="93139"/>
            <a:ext cx="11697629" cy="256590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419" sz="7200" b="1" dirty="0">
                <a:ea typeface="+mj-lt"/>
                <a:cs typeface="+mj-lt"/>
              </a:rPr>
              <a:t>SISTEMAS EXPERTOS</a:t>
            </a:r>
            <a:endParaRPr lang="es-MX" sz="7200" dirty="0"/>
          </a:p>
          <a:p>
            <a:pPr>
              <a:lnSpc>
                <a:spcPct val="100000"/>
              </a:lnSpc>
            </a:pP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96120" y="2286000"/>
            <a:ext cx="8776010" cy="2252546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s-419" sz="5600" b="1" dirty="0">
                <a:cs typeface="Poppins Light"/>
              </a:rPr>
              <a:t>Integrantes:</a:t>
            </a:r>
            <a:endParaRPr lang="es-MX" sz="5600" b="1" dirty="0"/>
          </a:p>
          <a:p>
            <a:pPr lvl="0">
              <a:buFont typeface=""/>
              <a:buChar char="•"/>
            </a:pPr>
            <a:r>
              <a:rPr lang="es-419" sz="5600" dirty="0"/>
              <a:t>Alison Verónica Cabral Rodriguez </a:t>
            </a:r>
            <a:endParaRPr lang="es-419" sz="5600" dirty="0">
              <a:cs typeface="Poppins Light"/>
            </a:endParaRPr>
          </a:p>
          <a:p>
            <a:pPr>
              <a:buFont typeface=""/>
              <a:buChar char="•"/>
            </a:pPr>
            <a:r>
              <a:rPr lang="es-419" sz="5600" dirty="0"/>
              <a:t>Yahir Cruz </a:t>
            </a:r>
            <a:r>
              <a:rPr lang="es-419" sz="5600" dirty="0" err="1"/>
              <a:t>Lopez</a:t>
            </a:r>
            <a:endParaRPr lang="es-419" sz="5600" dirty="0">
              <a:cs typeface="Poppins Light"/>
            </a:endParaRPr>
          </a:p>
          <a:p>
            <a:pPr>
              <a:buFont typeface=""/>
              <a:buChar char="•"/>
            </a:pPr>
            <a:r>
              <a:rPr lang="es-419" sz="5600" dirty="0">
                <a:cs typeface="Poppins Light"/>
              </a:rPr>
              <a:t>Joselyn Salvador Rivera </a:t>
            </a:r>
          </a:p>
          <a:p>
            <a:r>
              <a:rPr lang="es-419" sz="6400" b="1" dirty="0"/>
              <a:t>Carrera:</a:t>
            </a:r>
          </a:p>
          <a:p>
            <a:r>
              <a:rPr lang="es-419" sz="6400" dirty="0"/>
              <a:t>Ingeniería en Sistemas Computacionales</a:t>
            </a:r>
          </a:p>
          <a:p>
            <a:r>
              <a:rPr lang="es-419" sz="6400" b="1" dirty="0"/>
              <a:t>Materia:</a:t>
            </a:r>
          </a:p>
          <a:p>
            <a:r>
              <a:rPr lang="es-419" sz="6400" dirty="0"/>
              <a:t>Programación Avanzada</a:t>
            </a:r>
          </a:p>
          <a:p>
            <a:r>
              <a:rPr lang="es-419" sz="6400" b="1" dirty="0"/>
              <a:t>Docente</a:t>
            </a:r>
          </a:p>
          <a:p>
            <a:r>
              <a:rPr lang="es-419" sz="6400" dirty="0"/>
              <a:t>Mtro. Jesús Alejandro Flores Hernández</a:t>
            </a:r>
          </a:p>
          <a:p>
            <a:endParaRPr lang="es-419" dirty="0">
              <a:cs typeface="Poppins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2CAF2A-D3D2-2AA2-C018-F9980F1BE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07"/>
          <a:stretch>
            <a:fillRect/>
          </a:stretch>
        </p:blipFill>
        <p:spPr>
          <a:xfrm>
            <a:off x="5872049" y="2262695"/>
            <a:ext cx="6072765" cy="36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7847132" cy="1386965"/>
          </a:xfrm>
        </p:spPr>
        <p:txBody>
          <a:bodyPr/>
          <a:lstStyle/>
          <a:p>
            <a:r>
              <a:rPr lang="es-419" sz="4000" b="1">
                <a:latin typeface="Aptos"/>
              </a:rPr>
              <a:t>¿Qué es un sistema experto?</a:t>
            </a:r>
            <a:endParaRPr lang="es-MX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877" y="1672924"/>
            <a:ext cx="11190112" cy="31221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s-419" dirty="0">
                <a:ea typeface="+mn-lt"/>
                <a:cs typeface="+mn-lt"/>
              </a:rPr>
              <a:t>Un </a:t>
            </a:r>
            <a:r>
              <a:rPr lang="es-419" b="1" dirty="0">
                <a:ea typeface="+mn-lt"/>
                <a:cs typeface="+mn-lt"/>
              </a:rPr>
              <a:t>Sistema Experto</a:t>
            </a:r>
            <a:r>
              <a:rPr lang="es-419" dirty="0">
                <a:ea typeface="+mn-lt"/>
                <a:cs typeface="+mn-lt"/>
              </a:rPr>
              <a:t> es un programa de Inteligencia Artificial diseñado para resolver problemas de un dominio específico utilizando conocimiento especializado y mecanismos de razonamiento.</a:t>
            </a:r>
            <a:endParaRPr lang="es-MX" dirty="0">
              <a:cs typeface="Poppins Light"/>
            </a:endParaRPr>
          </a:p>
          <a:p>
            <a:pPr algn="just">
              <a:buNone/>
            </a:pPr>
            <a:r>
              <a:rPr lang="es-419" dirty="0">
                <a:ea typeface="+mn-lt"/>
                <a:cs typeface="+mn-lt"/>
              </a:rPr>
              <a:t>Su objetivo es proporcionar conclusiones o recomendaciones similares a las que podría proporcionar un especialista humano dentro de ese dominio.</a:t>
            </a:r>
            <a:endParaRPr lang="en-US" dirty="0">
              <a:cs typeface="Poppins Light"/>
            </a:endParaRPr>
          </a:p>
          <a:p>
            <a:pPr algn="just">
              <a:buNone/>
            </a:pPr>
            <a:r>
              <a:rPr lang="es-419" dirty="0">
                <a:ea typeface="+mn-lt"/>
                <a:cs typeface="+mn-lt"/>
              </a:rPr>
              <a:t>Una característica importante es que el conocimiento está representado explícitamente mediante hechos, reglas u otras estructuras. </a:t>
            </a:r>
            <a:endParaRPr lang="en-US" dirty="0">
              <a:cs typeface="Poppins Light"/>
            </a:endParaRPr>
          </a:p>
          <a:p>
            <a:pPr marL="0" indent="0" algn="just">
              <a:buNone/>
            </a:pPr>
            <a:endParaRPr lang="en-US" b="1" dirty="0">
              <a:cs typeface="Poppins Ligh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37CF04-51EA-CFF9-06E2-CA333B9069F5}"/>
              </a:ext>
            </a:extLst>
          </p:cNvPr>
          <p:cNvSpPr txBox="1">
            <a:spLocks/>
          </p:cNvSpPr>
          <p:nvPr/>
        </p:nvSpPr>
        <p:spPr>
          <a:xfrm>
            <a:off x="607877" y="4092723"/>
            <a:ext cx="8176916" cy="20869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b="1" dirty="0" err="1">
                <a:ea typeface="+mn-lt"/>
                <a:cs typeface="+mn-lt"/>
              </a:rPr>
              <a:t>Ejemplo</a:t>
            </a:r>
            <a:endParaRPr lang="es-MX" b="1" dirty="0"/>
          </a:p>
          <a:p>
            <a:pPr algn="just">
              <a:buNone/>
            </a:pPr>
            <a:r>
              <a:rPr lang="en-US" dirty="0">
                <a:ea typeface="+mn-lt"/>
                <a:cs typeface="+mn-lt"/>
              </a:rPr>
              <a:t>Un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médico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utilizar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reglas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algn="just">
              <a:buNone/>
            </a:pPr>
            <a:r>
              <a:rPr lang="en-US" dirty="0">
                <a:ea typeface="+mn-lt"/>
                <a:cs typeface="+mn-lt"/>
              </a:rPr>
              <a:t>SI el </a:t>
            </a:r>
            <a:r>
              <a:rPr lang="en-US" dirty="0" err="1">
                <a:ea typeface="+mn-lt"/>
                <a:cs typeface="+mn-lt"/>
              </a:rPr>
              <a:t>paciente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presenta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determinados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síntomas</a:t>
            </a:r>
            <a:endParaRPr lang="en-US" dirty="0" err="1"/>
          </a:p>
          <a:p>
            <a:pPr algn="just">
              <a:buNone/>
            </a:pPr>
            <a:r>
              <a:rPr lang="en-US" dirty="0">
                <a:ea typeface="+mn-lt"/>
                <a:cs typeface="+mn-lt"/>
              </a:rPr>
              <a:t>ENTONCES </a:t>
            </a:r>
            <a:r>
              <a:rPr lang="en-US" dirty="0" err="1">
                <a:ea typeface="+mn-lt"/>
                <a:cs typeface="+mn-lt"/>
              </a:rPr>
              <a:t>considerar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determinada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posibilidad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b="1" dirty="0">
              <a:cs typeface="Poppins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F8F054-1C13-BA4F-764A-B735D570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06" t="6686" r="33921" b="76062"/>
          <a:stretch>
            <a:fillRect/>
          </a:stretch>
        </p:blipFill>
        <p:spPr>
          <a:xfrm>
            <a:off x="9266663" y="3662509"/>
            <a:ext cx="2531326" cy="16953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84EFB5-1DE0-A141-4348-A50986005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4" t="28208" r="34127" b="63336"/>
          <a:stretch>
            <a:fillRect/>
          </a:stretch>
        </p:blipFill>
        <p:spPr>
          <a:xfrm>
            <a:off x="5084956" y="5357856"/>
            <a:ext cx="6857999" cy="118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750" y="146687"/>
            <a:ext cx="9145991" cy="1189162"/>
          </a:xfrm>
        </p:spPr>
        <p:txBody>
          <a:bodyPr/>
          <a:lstStyle/>
          <a:p>
            <a:pPr algn="ctr"/>
            <a:r>
              <a:rPr lang="en-US" sz="4800" dirty="0"/>
              <a:t>¿para </a:t>
            </a:r>
            <a:r>
              <a:rPr lang="en-US" sz="4800" dirty="0" err="1"/>
              <a:t>que</a:t>
            </a:r>
            <a:r>
              <a:rPr lang="en-US" sz="4800" dirty="0"/>
              <a:t> </a:t>
            </a:r>
            <a:r>
              <a:rPr lang="en-US" sz="4800" dirty="0" err="1"/>
              <a:t>sirve</a:t>
            </a:r>
            <a:r>
              <a:rPr lang="en-US" sz="4800" dirty="0"/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289302-0423-6EC1-0FA2-B4C16AEBFEAC}"/>
              </a:ext>
            </a:extLst>
          </p:cNvPr>
          <p:cNvSpPr txBox="1"/>
          <p:nvPr/>
        </p:nvSpPr>
        <p:spPr>
          <a:xfrm>
            <a:off x="278780" y="1558873"/>
            <a:ext cx="10883590" cy="44894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1600" dirty="0">
                <a:ea typeface="+mn-lt"/>
                <a:cs typeface="+mn-lt"/>
              </a:rPr>
              <a:t>Los sistemas expertos pueden utilizarse para:</a:t>
            </a:r>
            <a:endParaRPr lang="es-MX" sz="1600" dirty="0">
              <a:cs typeface="Poppins Ligh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Diagnóstico de problemas. </a:t>
            </a:r>
            <a:endParaRPr lang="es-MX" sz="1600" dirty="0">
              <a:cs typeface="Poppins Ligh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Asesoramiento. </a:t>
            </a:r>
            <a:endParaRPr lang="es-MX" sz="1600" dirty="0">
              <a:cs typeface="Poppins Ligh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Clasificación. </a:t>
            </a:r>
            <a:endParaRPr lang="es-MX" sz="1600" dirty="0">
              <a:cs typeface="Poppins Ligh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Toma de decisiones. </a:t>
            </a:r>
            <a:endParaRPr lang="es-MX" sz="1600" dirty="0">
              <a:cs typeface="Poppins Light"/>
            </a:endParaRP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Interpretación de información. </a:t>
            </a:r>
            <a:endParaRPr lang="es-419" sz="1600" dirty="0">
              <a:cs typeface="Poppins Light"/>
            </a:endParaRP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Resolución de problemas especializados. </a:t>
            </a:r>
            <a:endParaRPr lang="es-419" sz="1600" dirty="0"/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Apoyo a profesionales. </a:t>
            </a:r>
            <a:endParaRPr lang="es-419" sz="1600" dirty="0"/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s-419" sz="1600" dirty="0">
                <a:ea typeface="+mn-lt"/>
                <a:cs typeface="+mn-lt"/>
              </a:rPr>
              <a:t>Son especialmente útiles cuando existe conocimiento especializado que puede representarse y aplicarse mediante reglas o procedimientos.</a:t>
            </a:r>
            <a:endParaRPr lang="es-419" sz="1600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endParaRPr lang="es-419" sz="1600" dirty="0">
              <a:cs typeface="Poppins Light"/>
            </a:endParaRPr>
          </a:p>
          <a:p>
            <a:pPr algn="just">
              <a:lnSpc>
                <a:spcPct val="150000"/>
              </a:lnSpc>
            </a:pPr>
            <a:endParaRPr lang="es-MX" sz="1600" dirty="0">
              <a:cs typeface="Poppins Ligh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AF2A78-718A-0502-5AB1-9EDF2FC1B26C}"/>
              </a:ext>
            </a:extLst>
          </p:cNvPr>
          <p:cNvSpPr txBox="1"/>
          <p:nvPr/>
        </p:nvSpPr>
        <p:spPr>
          <a:xfrm>
            <a:off x="278780" y="5526866"/>
            <a:ext cx="11670508" cy="13311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419" b="1" dirty="0">
                <a:ea typeface="+mn-lt"/>
                <a:cs typeface="+mn-lt"/>
              </a:rPr>
              <a:t>Ejemplo</a:t>
            </a:r>
          </a:p>
          <a:p>
            <a:endParaRPr lang="es-419" sz="1050" dirty="0">
              <a:cs typeface="Poppins Light"/>
            </a:endParaRPr>
          </a:p>
          <a:p>
            <a:r>
              <a:rPr lang="es-419" dirty="0">
                <a:latin typeface="Aptos"/>
                <a:cs typeface="Poppins Light"/>
              </a:rPr>
              <a:t>Un sistema experto puede ayudar a identificar una falla en un automóvil a partir de síntomas introducidos por el usuario.</a:t>
            </a:r>
            <a:endParaRPr lang="es-419" dirty="0">
              <a:cs typeface="Poppins Light"/>
            </a:endParaRPr>
          </a:p>
          <a:p>
            <a:pPr algn="ctr"/>
            <a:endParaRPr lang="es-MX" sz="1600" dirty="0">
              <a:cs typeface="Poppins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90059E-0F1E-93EC-1F55-546D74E02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97" t="15610" r="750" b="63739"/>
          <a:stretch>
            <a:fillRect/>
          </a:stretch>
        </p:blipFill>
        <p:spPr>
          <a:xfrm>
            <a:off x="6746489" y="1335849"/>
            <a:ext cx="4047892" cy="297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9A6D6-06EF-D730-DF4A-FD7925B2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406" y="762336"/>
            <a:ext cx="9074798" cy="798835"/>
          </a:xfrm>
        </p:spPr>
        <p:txBody>
          <a:bodyPr/>
          <a:lstStyle/>
          <a:p>
            <a:pPr algn="ctr"/>
            <a:r>
              <a:rPr lang="es-419" sz="3600" dirty="0"/>
              <a:t>¿Qué es el conocimiento?</a:t>
            </a:r>
            <a:endParaRPr lang="es-MX" sz="3600" dirty="0"/>
          </a:p>
          <a:p>
            <a:pPr algn="ctr"/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4ECF0E-5ABB-7307-4007-BA9280BDF9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0585" y="1718878"/>
            <a:ext cx="10894742" cy="4376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419" dirty="0">
                <a:ea typeface="+mn-lt"/>
                <a:cs typeface="+mn-lt"/>
              </a:rPr>
              <a:t>El </a:t>
            </a:r>
            <a:r>
              <a:rPr lang="es-419" b="1" dirty="0">
                <a:ea typeface="+mn-lt"/>
                <a:cs typeface="+mn-lt"/>
              </a:rPr>
              <a:t>conocimiento</a:t>
            </a:r>
            <a:r>
              <a:rPr lang="es-419" dirty="0">
                <a:ea typeface="+mn-lt"/>
                <a:cs typeface="+mn-lt"/>
              </a:rPr>
              <a:t> es la información especializada que permite al sistema resolver problemas dentro de un determinado dominio.</a:t>
            </a:r>
            <a:endParaRPr lang="es-MX" dirty="0">
              <a:cs typeface="Poppins Light"/>
            </a:endParaRPr>
          </a:p>
          <a:p>
            <a:r>
              <a:rPr lang="es-419" dirty="0">
                <a:ea typeface="+mn-lt"/>
                <a:cs typeface="+mn-lt"/>
              </a:rPr>
              <a:t>Puede provenir de: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Expertos humanos. 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Libros. 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Manuales. 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Artículos científicos. 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Casos anteriores. </a:t>
            </a:r>
            <a:endParaRPr lang="es-MX" dirty="0"/>
          </a:p>
          <a:p>
            <a:r>
              <a:rPr lang="es-419" dirty="0">
                <a:ea typeface="+mn-lt"/>
                <a:cs typeface="+mn-lt"/>
              </a:rPr>
              <a:t>Documentación técnica. </a:t>
            </a:r>
            <a:endParaRPr lang="es-MX" dirty="0"/>
          </a:p>
          <a:p>
            <a:pPr marL="0" indent="0">
              <a:buNone/>
            </a:pPr>
            <a:r>
              <a:rPr lang="es-419" dirty="0">
                <a:ea typeface="+mn-lt"/>
                <a:cs typeface="+mn-lt"/>
              </a:rPr>
              <a:t>El conocimiento debe organizarse para que pueda ser representado y utilizado por el sistema.</a:t>
            </a:r>
            <a:endParaRPr lang="es-MX" dirty="0">
              <a:cs typeface="Poppins Light"/>
            </a:endParaRPr>
          </a:p>
          <a:p>
            <a:endParaRPr lang="es-MX" dirty="0">
              <a:cs typeface="Poppins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E83C8A-EF9A-2A7A-4B3D-2CC5AC9B5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" t="39706" r="67200" b="28455"/>
          <a:stretch>
            <a:fillRect/>
          </a:stretch>
        </p:blipFill>
        <p:spPr>
          <a:xfrm>
            <a:off x="6668429" y="2147695"/>
            <a:ext cx="4861932" cy="321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1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8880" y="737815"/>
            <a:ext cx="4391451" cy="6353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Ejemplo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623" y="1934583"/>
            <a:ext cx="9796005" cy="3745249"/>
          </a:xfrm>
        </p:spPr>
        <p:txBody>
          <a:bodyPr>
            <a:normAutofit/>
          </a:bodyPr>
          <a:lstStyle/>
          <a:p>
            <a:r>
              <a:rPr lang="es-419" dirty="0"/>
              <a:t>Para un sistema experto de automóviles:</a:t>
            </a:r>
            <a:endParaRPr lang="es-419" b="1" dirty="0">
              <a:cs typeface="Poppins Light"/>
            </a:endParaRPr>
          </a:p>
          <a:p>
            <a:r>
              <a:rPr lang="es-419" b="1" dirty="0"/>
              <a:t>Conocimiento:</a:t>
            </a:r>
          </a:p>
          <a:p>
            <a:pPr lvl="0">
              <a:buFont typeface=""/>
              <a:buChar char="•"/>
            </a:pPr>
            <a:r>
              <a:rPr lang="es-419" dirty="0"/>
              <a:t>Una batería descargada puede impedir que el motor arranque. </a:t>
            </a:r>
          </a:p>
          <a:p>
            <a:pPr lvl="0">
              <a:buFont typeface=""/>
              <a:buChar char="•"/>
            </a:pPr>
            <a:r>
              <a:rPr lang="es-419" dirty="0"/>
              <a:t>Luces débiles pueden indicar una batería con poca carga. </a:t>
            </a:r>
          </a:p>
          <a:p>
            <a:pPr lvl="0">
              <a:buFont typeface=""/>
              <a:buChar char="•"/>
            </a:pPr>
            <a:r>
              <a:rPr lang="es-419" dirty="0"/>
              <a:t>Un sonido determinado puede indicar una falla específica. </a:t>
            </a:r>
          </a:p>
          <a:p>
            <a:r>
              <a:rPr lang="es-419" dirty="0"/>
              <a:t>La adquisición y representación del conocimiento son aspectos fundamentales de los sistemas expertos. </a:t>
            </a:r>
            <a:endParaRPr lang="en-US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327C8-7409-09CD-5A91-E2F2FE85C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873" y="313268"/>
            <a:ext cx="9004880" cy="556528"/>
          </a:xfrm>
        </p:spPr>
        <p:txBody>
          <a:bodyPr/>
          <a:lstStyle/>
          <a:p>
            <a:pPr algn="ctr"/>
            <a:r>
              <a:rPr lang="es-419" sz="3600" b="1" dirty="0">
                <a:latin typeface="Amasis MT Pro Light" panose="02040304050005020304" pitchFamily="18" charset="0"/>
              </a:rPr>
              <a:t>Base de conocimiento</a:t>
            </a:r>
            <a:endParaRPr lang="es-MX" sz="3600" dirty="0">
              <a:latin typeface="Amasis MT Pro Light" panose="020403040500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59670C-A0CB-16AF-A780-FD864F234E99}"/>
              </a:ext>
            </a:extLst>
          </p:cNvPr>
          <p:cNvSpPr txBox="1"/>
          <p:nvPr/>
        </p:nvSpPr>
        <p:spPr>
          <a:xfrm>
            <a:off x="199884" y="1092821"/>
            <a:ext cx="10612243" cy="5608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1600" dirty="0"/>
              <a:t>La </a:t>
            </a:r>
            <a:r>
              <a:rPr lang="es-419" sz="1600" b="1" dirty="0"/>
              <a:t>base de conocimiento</a:t>
            </a:r>
            <a:r>
              <a:rPr lang="es-419" sz="1600" dirty="0"/>
              <a:t> almacena el conocimiento especializado que utilizará el sistema.</a:t>
            </a:r>
          </a:p>
          <a:p>
            <a:pPr algn="just">
              <a:lnSpc>
                <a:spcPct val="150000"/>
              </a:lnSpc>
            </a:pPr>
            <a:r>
              <a:rPr lang="es-419" sz="1600" dirty="0"/>
              <a:t>Puede contener:</a:t>
            </a:r>
            <a:endParaRPr lang="es-419" sz="1600" b="1" dirty="0"/>
          </a:p>
          <a:p>
            <a:pPr algn="just">
              <a:lnSpc>
                <a:spcPct val="150000"/>
              </a:lnSpc>
            </a:pPr>
            <a:r>
              <a:rPr lang="es-419" sz="1600" b="1" dirty="0"/>
              <a:t>Hechos</a:t>
            </a:r>
            <a:endParaRPr lang="es-419" sz="1600" dirty="0"/>
          </a:p>
          <a:p>
            <a:pPr algn="just">
              <a:lnSpc>
                <a:spcPct val="150000"/>
              </a:lnSpc>
            </a:pPr>
            <a:r>
              <a:rPr lang="es-419" sz="1600" dirty="0"/>
              <a:t>Información conocida:</a:t>
            </a:r>
          </a:p>
          <a:p>
            <a:pPr algn="just">
              <a:lnSpc>
                <a:spcPct val="150000"/>
              </a:lnSpc>
            </a:pPr>
            <a:r>
              <a:rPr lang="es-419" sz="1600" dirty="0" err="1"/>
              <a:t>motor_no_arranca</a:t>
            </a:r>
            <a:r>
              <a:rPr lang="es-419" sz="1600" dirty="0"/>
              <a:t> = verdadero</a:t>
            </a:r>
          </a:p>
          <a:p>
            <a:pPr algn="just">
              <a:lnSpc>
                <a:spcPct val="150000"/>
              </a:lnSpc>
            </a:pPr>
            <a:r>
              <a:rPr lang="es-419" sz="1600" dirty="0" err="1"/>
              <a:t>luces_debiles</a:t>
            </a:r>
            <a:r>
              <a:rPr lang="es-419" sz="1600" dirty="0"/>
              <a:t> = verdadero</a:t>
            </a:r>
            <a:endParaRPr lang="es-419" sz="1600" b="1" dirty="0"/>
          </a:p>
          <a:p>
            <a:pPr algn="just">
              <a:lnSpc>
                <a:spcPct val="150000"/>
              </a:lnSpc>
            </a:pPr>
            <a:r>
              <a:rPr lang="es-419" sz="1600" b="1" dirty="0"/>
              <a:t>Reglas</a:t>
            </a:r>
            <a:endParaRPr lang="es-419" sz="1600" dirty="0"/>
          </a:p>
          <a:p>
            <a:pPr algn="just">
              <a:lnSpc>
                <a:spcPct val="150000"/>
              </a:lnSpc>
            </a:pPr>
            <a:r>
              <a:rPr lang="es-419" sz="1600" dirty="0"/>
              <a:t>Relaciones entre condiciones y conclusiones:</a:t>
            </a:r>
          </a:p>
          <a:p>
            <a:pPr algn="just">
              <a:lnSpc>
                <a:spcPct val="150000"/>
              </a:lnSpc>
            </a:pPr>
            <a:r>
              <a:rPr lang="es-419" sz="1600" dirty="0"/>
              <a:t>SI </a:t>
            </a:r>
            <a:r>
              <a:rPr lang="es-419" sz="1600" dirty="0" err="1"/>
              <a:t>motor_no_arranca</a:t>
            </a:r>
            <a:endParaRPr lang="es-419" sz="1600" dirty="0">
              <a:cs typeface="Poppins Light"/>
            </a:endParaRPr>
          </a:p>
          <a:p>
            <a:pPr algn="just"/>
            <a:r>
              <a:rPr lang="es-419" sz="1600" dirty="0"/>
              <a:t>Y </a:t>
            </a:r>
            <a:r>
              <a:rPr lang="es-419" sz="1600" dirty="0" err="1"/>
              <a:t>luces_debiles</a:t>
            </a:r>
            <a:endParaRPr lang="es-419" sz="1600" dirty="0">
              <a:cs typeface="Poppins Light"/>
            </a:endParaRPr>
          </a:p>
          <a:p>
            <a:pPr algn="just">
              <a:lnSpc>
                <a:spcPct val="150000"/>
              </a:lnSpc>
            </a:pPr>
            <a:r>
              <a:rPr lang="es-419" sz="1600" dirty="0"/>
              <a:t>ENTONCES </a:t>
            </a:r>
            <a:r>
              <a:rPr lang="es-419" sz="1600" dirty="0" err="1"/>
              <a:t>bateria_baja</a:t>
            </a:r>
          </a:p>
          <a:p>
            <a:pPr algn="just">
              <a:lnSpc>
                <a:spcPct val="150000"/>
              </a:lnSpc>
            </a:pPr>
            <a:r>
              <a:rPr lang="es-419" sz="1600" dirty="0"/>
              <a:t>Por lo tanto:</a:t>
            </a:r>
          </a:p>
          <a:p>
            <a:pPr algn="just">
              <a:lnSpc>
                <a:spcPct val="150000"/>
              </a:lnSpc>
            </a:pPr>
            <a:r>
              <a:rPr lang="es-419" sz="1600" b="1" dirty="0"/>
              <a:t>Base de conocimiento = hechos + reglas/conocimiento especializado.</a:t>
            </a:r>
          </a:p>
          <a:p>
            <a:pPr algn="just">
              <a:lnSpc>
                <a:spcPct val="150000"/>
              </a:lnSpc>
            </a:pPr>
            <a:r>
              <a:rPr lang="es-419" sz="1600" dirty="0"/>
              <a:t>En los sistemas expertos tradicionales, esta separación permite modificar o ampliar el conocimiento sin tener que cambiar necesariamente el mecanismo de inferencia. </a:t>
            </a:r>
            <a:endParaRPr lang="es-MX" sz="1600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48541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41DD-BBDA-4AFA-22CA-73EC39E5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C146F-D4C4-04AB-7419-0380D959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554" y="522892"/>
            <a:ext cx="9074798" cy="1386965"/>
          </a:xfrm>
        </p:spPr>
        <p:txBody>
          <a:bodyPr/>
          <a:lstStyle/>
          <a:p>
            <a:pPr algn="ctr"/>
            <a:r>
              <a:rPr lang="es-419" sz="3600" dirty="0">
                <a:ea typeface="+mj-lt"/>
                <a:cs typeface="+mj-lt"/>
              </a:rPr>
              <a:t>Motor de inferencia</a:t>
            </a:r>
            <a:endParaRPr lang="es-MX" sz="3600" dirty="0"/>
          </a:p>
          <a:p>
            <a:pPr algn="ctr"/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41ECB8-EE42-8692-3FA3-76963BABBC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257" y="1050451"/>
            <a:ext cx="10275819" cy="504111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s-419" sz="1600" dirty="0">
                <a:ea typeface="+mn-lt"/>
                <a:cs typeface="+mn-lt"/>
              </a:rPr>
              <a:t>El </a:t>
            </a:r>
            <a:r>
              <a:rPr lang="es-419" sz="1600" b="1" dirty="0">
                <a:ea typeface="+mn-lt"/>
                <a:cs typeface="+mn-lt"/>
              </a:rPr>
              <a:t>motor de inferencia</a:t>
            </a:r>
            <a:r>
              <a:rPr lang="es-419" sz="1600" dirty="0">
                <a:ea typeface="+mn-lt"/>
                <a:cs typeface="+mn-lt"/>
              </a:rPr>
              <a:t> es el componente que utiliza el conocimiento almacenado para obtener conclusiones.</a:t>
            </a:r>
            <a:endParaRPr lang="es-MX" sz="1600" dirty="0">
              <a:cs typeface="Poppins Light"/>
            </a:endParaRPr>
          </a:p>
          <a:p>
            <a:pPr>
              <a:buNone/>
            </a:pPr>
            <a:r>
              <a:rPr lang="es-419" sz="1600" dirty="0">
                <a:ea typeface="+mn-lt"/>
                <a:cs typeface="+mn-lt"/>
              </a:rPr>
              <a:t>Su función básica es:</a:t>
            </a:r>
            <a:endParaRPr lang="es-MX" sz="1600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HECHOS</a:t>
            </a: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   ↓</a:t>
            </a: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BUSCAR REGLAS</a:t>
            </a: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   ↓</a:t>
            </a: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APLICAR REGLAS</a:t>
            </a: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   ↓</a:t>
            </a:r>
            <a:endParaRPr lang="es-419" dirty="0">
              <a:cs typeface="Poppins Light"/>
            </a:endParaRPr>
          </a:p>
          <a:p>
            <a:pPr marL="0" indent="0">
              <a:buNone/>
            </a:pPr>
            <a:r>
              <a:rPr lang="es-419" dirty="0">
                <a:ea typeface="+mn-lt"/>
                <a:cs typeface="+mn-lt"/>
              </a:rPr>
              <a:t>NUEVOS HECHOS  </a:t>
            </a:r>
            <a:r>
              <a:rPr lang="es-419" dirty="0" err="1">
                <a:ea typeface="+mn-lt"/>
                <a:cs typeface="+mn-lt"/>
              </a:rPr>
              <a:t>HECHOS</a:t>
            </a:r>
            <a:endParaRPr lang="es-419" sz="1200" dirty="0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s-419" dirty="0">
                <a:ea typeface="+mn-lt"/>
                <a:cs typeface="+mn-lt"/>
              </a:rPr>
              <a:t>   ↓</a:t>
            </a:r>
            <a:endParaRPr lang="es-419" sz="1200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CONCLUSIÓN</a:t>
            </a:r>
            <a:endParaRPr lang="es-419" sz="1200" dirty="0"/>
          </a:p>
          <a:p>
            <a:pPr>
              <a:buNone/>
            </a:pPr>
            <a:endParaRPr lang="es-419" dirty="0">
              <a:cs typeface="Poppins Light"/>
            </a:endParaRPr>
          </a:p>
          <a:p>
            <a:pPr>
              <a:buNone/>
            </a:pPr>
            <a:r>
              <a:rPr lang="es-419" dirty="0">
                <a:ea typeface="+mn-lt"/>
                <a:cs typeface="+mn-lt"/>
              </a:rPr>
              <a:t>  </a:t>
            </a:r>
            <a:endParaRPr lang="es-419" dirty="0">
              <a:cs typeface="Poppins Light"/>
            </a:endParaRPr>
          </a:p>
          <a:p>
            <a:pPr>
              <a:buNone/>
            </a:pPr>
            <a:endParaRPr lang="es-419" sz="1600" dirty="0">
              <a:cs typeface="Poppins Light"/>
            </a:endParaRPr>
          </a:p>
          <a:p>
            <a:pPr>
              <a:buNone/>
            </a:pPr>
            <a:endParaRPr lang="es-MX" sz="1600" dirty="0">
              <a:cs typeface="Poppins Ligh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0562EB-8E64-36AE-010C-C8F78EC13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79" t="36097" r="858" b="29431"/>
          <a:stretch>
            <a:fillRect/>
          </a:stretch>
        </p:blipFill>
        <p:spPr>
          <a:xfrm>
            <a:off x="5216882" y="1642454"/>
            <a:ext cx="6400842" cy="44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8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DE89-AFBD-7B69-5D51-53938762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4E9A-00C8-B779-4E0B-4DAA7D489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0274" y="699970"/>
            <a:ext cx="4391451" cy="63537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err="1">
                <a:latin typeface="Amasis MT Pro Light" panose="02040304050005020304" pitchFamily="18" charset="0"/>
              </a:rPr>
              <a:t>Ejemplo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BB043-DCFD-B90C-952B-5D68BCE06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85" y="1655114"/>
            <a:ext cx="9796005" cy="35476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419" sz="1600" dirty="0">
                <a:ea typeface="+mn-lt"/>
                <a:cs typeface="+mn-lt"/>
              </a:rPr>
              <a:t>Hecho: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batería = baja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Regla: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SI batería = baja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ENTONCES revisar batería</a:t>
            </a:r>
            <a:endParaRPr lang="es-419" sz="1600" dirty="0">
              <a:cs typeface="Poppins Light"/>
            </a:endParaRPr>
          </a:p>
          <a:p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Conclusión: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revisar batería</a:t>
            </a:r>
            <a:endParaRPr lang="es-419" sz="1600" dirty="0">
              <a:cs typeface="Poppins Light"/>
            </a:endParaRPr>
          </a:p>
          <a:p>
            <a:r>
              <a:rPr lang="es-419" sz="1600" dirty="0">
                <a:ea typeface="+mn-lt"/>
                <a:cs typeface="+mn-lt"/>
              </a:rPr>
              <a:t>El motor puede utilizar diferentes estrategias de razonamiento, entre ellas </a:t>
            </a:r>
            <a:r>
              <a:rPr lang="es-419" sz="1600" b="1" dirty="0">
                <a:ea typeface="+mn-lt"/>
                <a:cs typeface="+mn-lt"/>
              </a:rPr>
              <a:t>encadenamiento hacia adelante</a:t>
            </a:r>
            <a:r>
              <a:rPr lang="es-419" sz="1600" dirty="0">
                <a:ea typeface="+mn-lt"/>
                <a:cs typeface="+mn-lt"/>
              </a:rPr>
              <a:t> y </a:t>
            </a:r>
            <a:r>
              <a:rPr lang="es-419" sz="1600" b="1" dirty="0">
                <a:ea typeface="+mn-lt"/>
                <a:cs typeface="+mn-lt"/>
              </a:rPr>
              <a:t>encadenamiento hacia atrás</a:t>
            </a:r>
            <a:r>
              <a:rPr lang="es-419" sz="1600" dirty="0">
                <a:ea typeface="+mn-lt"/>
                <a:cs typeface="+mn-lt"/>
              </a:rPr>
              <a:t>. </a:t>
            </a:r>
            <a:endParaRPr lang="es-419" sz="1600" dirty="0">
              <a:cs typeface="Poppins Light"/>
            </a:endParaRPr>
          </a:p>
          <a:p>
            <a:endParaRPr lang="en-US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2713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45DA-AB66-878C-FD9E-15988C9C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4CB12-9BA6-2154-E2D2-707D001DE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560" y="1495365"/>
            <a:ext cx="9004880" cy="709385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endParaRPr lang="es-419" sz="4000" b="1" dirty="0"/>
          </a:p>
          <a:p>
            <a:pPr algn="ctr">
              <a:lnSpc>
                <a:spcPct val="150000"/>
              </a:lnSpc>
            </a:pPr>
            <a:r>
              <a:rPr lang="es-419" sz="4000" b="1" dirty="0">
                <a:ea typeface="+mj-lt"/>
                <a:cs typeface="+mj-lt"/>
              </a:rPr>
              <a:t>Arquitectura de un sistema experto</a:t>
            </a:r>
            <a:endParaRPr lang="es-419" dirty="0"/>
          </a:p>
          <a:p>
            <a:pPr algn="ctr"/>
            <a:endParaRPr lang="es-419" sz="4000" b="1" dirty="0"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1379C5-C1FB-649B-CD17-545089420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8" t="71545"/>
          <a:stretch>
            <a:fillRect/>
          </a:stretch>
        </p:blipFill>
        <p:spPr>
          <a:xfrm>
            <a:off x="245618" y="1850057"/>
            <a:ext cx="11946382" cy="46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4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659F-53CF-2AC0-C6E9-47407BE0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009F2-29FC-12B2-FE6F-2A37A5F3D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984" y="1004711"/>
            <a:ext cx="9004880" cy="709385"/>
          </a:xfrm>
        </p:spPr>
        <p:txBody>
          <a:bodyPr/>
          <a:lstStyle/>
          <a:p>
            <a:pPr algn="ctr"/>
            <a:endParaRPr lang="es-419" sz="4000" b="1" dirty="0"/>
          </a:p>
          <a:p>
            <a:pPr algn="ctr"/>
            <a:endParaRPr lang="es-419" sz="4000" b="1" dirty="0">
              <a:latin typeface="Lora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5CF69D-0D0C-7F3A-689C-D5487D6BC55D}"/>
              </a:ext>
            </a:extLst>
          </p:cNvPr>
          <p:cNvSpPr txBox="1"/>
          <p:nvPr/>
        </p:nvSpPr>
        <p:spPr>
          <a:xfrm>
            <a:off x="171262" y="1004711"/>
            <a:ext cx="5058660" cy="43437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419" sz="1400" b="1" dirty="0">
                <a:ea typeface="+mn-lt"/>
                <a:cs typeface="+mn-lt"/>
              </a:rPr>
              <a:t>Componentes principales</a:t>
            </a:r>
            <a:endParaRPr lang="es-MX" sz="1400" dirty="0">
              <a:ea typeface="+mn-lt"/>
              <a:cs typeface="+mn-lt"/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lang="es-419" sz="1400" b="1" dirty="0">
                <a:ea typeface="+mn-lt"/>
                <a:cs typeface="+mn-lt"/>
              </a:rPr>
              <a:t>Interfaz:</a:t>
            </a:r>
            <a:r>
              <a:rPr lang="es-419" sz="1400" dirty="0">
                <a:ea typeface="+mn-lt"/>
                <a:cs typeface="+mn-lt"/>
              </a:rPr>
              <a:t> permite la comunicación con el usuario.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lang="es-419" sz="1400" b="1" dirty="0">
                <a:ea typeface="+mn-lt"/>
                <a:cs typeface="+mn-lt"/>
              </a:rPr>
              <a:t>Base de conocimiento:</a:t>
            </a:r>
            <a:r>
              <a:rPr lang="es-419" sz="1400" dirty="0">
                <a:ea typeface="+mn-lt"/>
                <a:cs typeface="+mn-lt"/>
              </a:rPr>
              <a:t> almacena hechos y reglas.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lang="es-419" sz="1400" b="1" dirty="0">
                <a:ea typeface="+mn-lt"/>
                <a:cs typeface="+mn-lt"/>
              </a:rPr>
              <a:t>Memoria de trabajo:</a:t>
            </a:r>
            <a:r>
              <a:rPr lang="es-419" sz="1400" dirty="0">
                <a:ea typeface="+mn-lt"/>
                <a:cs typeface="+mn-lt"/>
              </a:rPr>
              <a:t> contiene los datos del problema actual.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lang="es-419" sz="1400" b="1" dirty="0">
                <a:ea typeface="+mn-lt"/>
                <a:cs typeface="+mn-lt"/>
              </a:rPr>
              <a:t>Motor de inferencia:</a:t>
            </a:r>
            <a:r>
              <a:rPr lang="es-419" sz="1400" dirty="0">
                <a:ea typeface="+mn-lt"/>
                <a:cs typeface="+mn-lt"/>
              </a:rPr>
              <a:t> aplica las reglas y obtiene conclusiones.</a:t>
            </a: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lang="es-419" sz="1400" dirty="0">
                <a:ea typeface="+mn-lt"/>
                <a:cs typeface="+mn-lt"/>
              </a:rPr>
              <a:t>Esta separación entre conocimiento y proceso de inferencia fue una característica importante de sistemas como MYCIN.</a:t>
            </a:r>
            <a:endParaRPr lang="es-MX" sz="1400" dirty="0">
              <a:ea typeface="+mn-lt"/>
              <a:cs typeface="+mn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7F490A7-E643-2538-DACD-C8B70B5AF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8"/>
          <a:stretch>
            <a:fillRect/>
          </a:stretch>
        </p:blipFill>
        <p:spPr>
          <a:xfrm>
            <a:off x="5464564" y="110000"/>
            <a:ext cx="6750636" cy="645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96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65D6-3535-DC1D-6954-98B4EEC1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7E170-61F7-DC72-877A-CCC5B51D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823" y="630249"/>
            <a:ext cx="7240354" cy="1344632"/>
          </a:xfrm>
        </p:spPr>
        <p:txBody>
          <a:bodyPr/>
          <a:lstStyle/>
          <a:p>
            <a:pPr algn="ctr"/>
            <a:r>
              <a:rPr lang="es-419" sz="3200" b="1" dirty="0">
                <a:latin typeface="Amasis MT Pro Light" panose="02040304050005020304" pitchFamily="18" charset="0"/>
              </a:rPr>
              <a:t>Línea de tiempo</a:t>
            </a:r>
            <a:endParaRPr lang="es-MX" sz="3200" dirty="0">
              <a:latin typeface="Amasis MT Pro Light" panose="020403040500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B6A2C2-33D1-8FC3-3653-A969917F81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869" y="1302565"/>
            <a:ext cx="11184262" cy="52901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419" dirty="0"/>
              <a:t>Esta es importante porque tu profesor la pide específicamente.</a:t>
            </a:r>
          </a:p>
          <a:p>
            <a:r>
              <a:rPr lang="es-419" b="1" dirty="0"/>
              <a:t>1950 — Alan Turing</a:t>
            </a:r>
          </a:p>
          <a:p>
            <a:r>
              <a:rPr lang="es-419" dirty="0"/>
              <a:t>Publica </a:t>
            </a:r>
            <a:r>
              <a:rPr lang="es-419" i="1" dirty="0"/>
              <a:t>Computing </a:t>
            </a:r>
            <a:r>
              <a:rPr lang="es-419" i="1" dirty="0" err="1"/>
              <a:t>Machinery</a:t>
            </a:r>
            <a:r>
              <a:rPr lang="es-419" i="1" dirty="0"/>
              <a:t> and </a:t>
            </a:r>
            <a:r>
              <a:rPr lang="es-419" i="1" dirty="0" err="1"/>
              <a:t>Intelligence</a:t>
            </a:r>
            <a:r>
              <a:rPr lang="es-419" dirty="0"/>
              <a:t>, un trabajo fundamental para la discusión sobre inteligencia de las máquinas. </a:t>
            </a:r>
          </a:p>
          <a:p>
            <a:r>
              <a:rPr lang="es-419" b="1" dirty="0"/>
              <a:t>1956 — Dartmouth</a:t>
            </a:r>
          </a:p>
          <a:p>
            <a:r>
              <a:rPr lang="es-419" dirty="0"/>
              <a:t>La investigación sobre Inteligencia Artificial se consolida como un campo académico.</a:t>
            </a:r>
          </a:p>
          <a:p>
            <a:r>
              <a:rPr lang="es-419" b="1" dirty="0"/>
              <a:t>Década de 1960 — DENDRAL</a:t>
            </a:r>
          </a:p>
          <a:p>
            <a:r>
              <a:rPr lang="es-419" dirty="0"/>
              <a:t>Se desarrolla </a:t>
            </a:r>
            <a:r>
              <a:rPr lang="es-419" b="1" dirty="0"/>
              <a:t>DENDRAL</a:t>
            </a:r>
            <a:r>
              <a:rPr lang="es-419" dirty="0"/>
              <a:t>, uno de los primeros sistemas expertos importantes, orientado al análisis de estructuras químicas. </a:t>
            </a:r>
          </a:p>
          <a:p>
            <a:r>
              <a:rPr lang="es-419" b="1" dirty="0">
                <a:ea typeface="+mn-lt"/>
                <a:cs typeface="+mn-lt"/>
              </a:rPr>
              <a:t>Década de 1970 — MYCIN</a:t>
            </a:r>
            <a:endParaRPr lang="es-419" dirty="0">
              <a:cs typeface="Poppins Light"/>
            </a:endParaRPr>
          </a:p>
          <a:p>
            <a:r>
              <a:rPr lang="es-419" dirty="0">
                <a:ea typeface="+mn-lt"/>
                <a:cs typeface="+mn-lt"/>
              </a:rPr>
              <a:t>Se desarrolla </a:t>
            </a:r>
            <a:r>
              <a:rPr lang="es-419" b="1" dirty="0">
                <a:ea typeface="+mn-lt"/>
                <a:cs typeface="+mn-lt"/>
              </a:rPr>
              <a:t>MYCIN</a:t>
            </a:r>
            <a:r>
              <a:rPr lang="es-419" dirty="0">
                <a:ea typeface="+mn-lt"/>
                <a:cs typeface="+mn-lt"/>
              </a:rPr>
              <a:t>, sistema experto orientado al diagnóstico de determinadas infecciones bacterianas y recomendaciones terapéuticas. </a:t>
            </a:r>
            <a:endParaRPr lang="es-419" dirty="0"/>
          </a:p>
          <a:p>
            <a:r>
              <a:rPr lang="es-419" b="1" dirty="0">
                <a:ea typeface="+mn-lt"/>
                <a:cs typeface="+mn-lt"/>
              </a:rPr>
              <a:t>Década de 1980 — Expansión comercial</a:t>
            </a:r>
            <a:endParaRPr lang="es-419" dirty="0"/>
          </a:p>
          <a:p>
            <a:r>
              <a:rPr lang="es-419" dirty="0">
                <a:ea typeface="+mn-lt"/>
                <a:cs typeface="+mn-lt"/>
              </a:rPr>
              <a:t>Los sistemas expertos comienzan a utilizarse en diferentes áreas empresariales e industriales.</a:t>
            </a:r>
            <a:endParaRPr lang="es-419" dirty="0"/>
          </a:p>
          <a:p>
            <a:endParaRPr lang="es-419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304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12E42-2B1A-85F5-1BCE-80FB076C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2AB-C3AE-01C0-FA31-3B3D7C301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530" y="548418"/>
            <a:ext cx="9004880" cy="709385"/>
          </a:xfrm>
        </p:spPr>
        <p:txBody>
          <a:bodyPr/>
          <a:lstStyle/>
          <a:p>
            <a:pPr algn="ctr"/>
            <a:endParaRPr lang="es-419" sz="4000" b="1" dirty="0"/>
          </a:p>
          <a:p>
            <a:pPr algn="ctr"/>
            <a:r>
              <a:rPr lang="es-419" sz="3200" b="1" dirty="0">
                <a:latin typeface="Amasis MT Pro Light" panose="02040304050005020304" pitchFamily="18" charset="0"/>
                <a:ea typeface="+mj-lt"/>
                <a:cs typeface="+mj-lt"/>
              </a:rPr>
              <a:t>Tipos de sistemas expertos</a:t>
            </a:r>
            <a:endParaRPr lang="es-419" sz="5400" b="1" dirty="0">
              <a:latin typeface="Amasis MT Pro Light" panose="02040304050005020304" pitchFamily="18" charset="0"/>
            </a:endParaRPr>
          </a:p>
          <a:p>
            <a:pPr algn="ctr"/>
            <a:endParaRPr lang="es-419" sz="4000" b="1" dirty="0">
              <a:latin typeface="Apto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3C1651-EA45-C898-683A-B10498A7F87C}"/>
              </a:ext>
            </a:extLst>
          </p:cNvPr>
          <p:cNvSpPr txBox="1"/>
          <p:nvPr/>
        </p:nvSpPr>
        <p:spPr>
          <a:xfrm>
            <a:off x="111512" y="936702"/>
            <a:ext cx="12080488" cy="5878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1400" b="1" dirty="0">
                <a:ea typeface="+mn-lt"/>
                <a:cs typeface="+mn-lt"/>
              </a:rPr>
              <a:t>1. Basados en reglas</a:t>
            </a:r>
            <a:endParaRPr lang="es-MX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Utilizan reglas del tipo: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SI condición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ENTONCES conclusión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Son uno de los tipos clásicos de sistemas expertos.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b="1" dirty="0">
                <a:ea typeface="+mn-lt"/>
                <a:cs typeface="+mn-lt"/>
              </a:rPr>
              <a:t>2. Basados en casos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Utilizan experiencias o problemas anteriores para ayudar a resolver un nuevo caso.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b="1" dirty="0">
                <a:ea typeface="+mn-lt"/>
                <a:cs typeface="+mn-lt"/>
              </a:rPr>
              <a:t>3. Basados en modelos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Utilizan un modelo del funcionamiento de un sistema o proceso para realizar diagnósticos o inferencias.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b="1" dirty="0">
                <a:ea typeface="+mn-lt"/>
                <a:cs typeface="+mn-lt"/>
              </a:rPr>
              <a:t>4. Difusos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Utilizan </a:t>
            </a:r>
            <a:r>
              <a:rPr lang="es-419" sz="1400" b="1" dirty="0">
                <a:ea typeface="+mn-lt"/>
                <a:cs typeface="+mn-lt"/>
              </a:rPr>
              <a:t>lógica difusa</a:t>
            </a:r>
            <a:r>
              <a:rPr lang="es-419" sz="1400" dirty="0">
                <a:ea typeface="+mn-lt"/>
                <a:cs typeface="+mn-lt"/>
              </a:rPr>
              <a:t> para trabajar con conceptos que no son simplemente verdaderos o falsos, como: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temperatura = ligeramente alta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riesgo = medio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b="1" dirty="0">
                <a:ea typeface="+mn-lt"/>
                <a:cs typeface="+mn-lt"/>
              </a:rPr>
              <a:t>5. Híbridos</a:t>
            </a:r>
            <a:endParaRPr lang="es-419" sz="1400" dirty="0"/>
          </a:p>
          <a:p>
            <a:pPr algn="just">
              <a:lnSpc>
                <a:spcPct val="150000"/>
              </a:lnSpc>
            </a:pPr>
            <a:r>
              <a:rPr lang="es-419" sz="1400" dirty="0">
                <a:ea typeface="+mn-lt"/>
                <a:cs typeface="+mn-lt"/>
              </a:rPr>
              <a:t>Combinan diferentes técnicas, por ejemplo:</a:t>
            </a:r>
            <a:endParaRPr lang="es-419" sz="1400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400" dirty="0">
                <a:ea typeface="+mn-lt"/>
                <a:cs typeface="+mn-lt"/>
              </a:rPr>
              <a:t>reglas; </a:t>
            </a:r>
            <a:endParaRPr lang="es-419" sz="1400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400" dirty="0">
                <a:ea typeface="+mn-lt"/>
                <a:cs typeface="+mn-lt"/>
              </a:rPr>
              <a:t>lógica difusa; </a:t>
            </a:r>
            <a:endParaRPr lang="es-419" sz="1400" dirty="0"/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s-419" sz="1400" dirty="0">
                <a:ea typeface="+mn-lt"/>
                <a:cs typeface="+mn-lt"/>
              </a:rPr>
              <a:t>aprendizaje automático</a:t>
            </a:r>
            <a:endParaRPr lang="es-419" sz="1400" dirty="0"/>
          </a:p>
        </p:txBody>
      </p:sp>
    </p:spTree>
    <p:extLst>
      <p:ext uri="{BB962C8B-B14F-4D97-AF65-F5344CB8AC3E}">
        <p14:creationId xmlns:p14="http://schemas.microsoft.com/office/powerpoint/2010/main" val="3882409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33AD-992D-7586-9F80-A25289B82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9CD10-4604-3827-8BE6-97A5FF56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314" y="385191"/>
            <a:ext cx="7240354" cy="1344632"/>
          </a:xfrm>
        </p:spPr>
        <p:txBody>
          <a:bodyPr/>
          <a:lstStyle/>
          <a:p>
            <a:r>
              <a:rPr lang="es-419" sz="3200" b="1">
                <a:ea typeface="+mj-lt"/>
                <a:cs typeface="+mj-lt"/>
              </a:rPr>
              <a:t>Ventajas y limitaciones</a:t>
            </a:r>
            <a:endParaRPr lang="es-MX"/>
          </a:p>
          <a:p>
            <a:endParaRPr lang="es-419" sz="3200" b="1" dirty="0">
              <a:latin typeface="Apto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EA989A-9008-2DEC-12AE-096EECE6DF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1426" y="787545"/>
            <a:ext cx="10519358" cy="52901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s-419" b="1">
                <a:ea typeface="+mn-lt"/>
                <a:cs typeface="+mn-lt"/>
              </a:rPr>
              <a:t>Ventajas</a:t>
            </a:r>
            <a:endParaRPr lang="es-MX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Conservan conocimiento especializado.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Pueden proporcionar resultados consistentes.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Pueden ayudar a personas con menor experiencia.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Las reglas pueden ser relativamente fáciles de interpretar.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Pueden utilizarse para apoyar decisiones. </a:t>
            </a:r>
            <a:endParaRPr lang="es-419"/>
          </a:p>
          <a:p>
            <a:pPr indent="0">
              <a:buNone/>
            </a:pPr>
            <a:r>
              <a:rPr lang="es-419" b="1">
                <a:ea typeface="+mn-lt"/>
                <a:cs typeface="+mn-lt"/>
              </a:rPr>
              <a:t>Limitaciones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Adquirir conocimiento de expertos puede ser difícil.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El conocimiento debe mantenerse actualizado.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Pueden tener problemas ante situaciones no contempladas.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Las bases de reglas pueden volverse grandes y difíciles de mantener. </a:t>
            </a:r>
            <a:endParaRPr lang="es-419"/>
          </a:p>
          <a:p>
            <a:pPr>
              <a:buFont typeface="Arial"/>
              <a:buChar char="•"/>
            </a:pPr>
            <a:r>
              <a:rPr lang="es-419">
                <a:ea typeface="+mn-lt"/>
                <a:cs typeface="+mn-lt"/>
              </a:rPr>
              <a:t>No sustituyen automáticamente el conocimiento general de una persona. </a:t>
            </a:r>
            <a:endParaRPr lang="es-419"/>
          </a:p>
          <a:p>
            <a:pPr indent="0">
              <a:buNone/>
            </a:pPr>
            <a:r>
              <a:rPr lang="es-419">
                <a:ea typeface="+mn-lt"/>
                <a:cs typeface="+mn-lt"/>
              </a:rPr>
              <a:t>La dificultad para adquirir conocimiento especializado es uno de los problemas clásicos de la ingeniería del conocimiento. </a:t>
            </a:r>
            <a:endParaRPr lang="es-419"/>
          </a:p>
          <a:p>
            <a:pPr marL="0" indent="0">
              <a:buNone/>
            </a:pPr>
            <a:endParaRPr lang="es-419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0632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67D5-100A-34A2-1C74-CB9F360E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D3DE7-22D7-6E58-9299-357A9D8D1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762" y="200378"/>
            <a:ext cx="9004880" cy="709385"/>
          </a:xfrm>
        </p:spPr>
        <p:txBody>
          <a:bodyPr/>
          <a:lstStyle/>
          <a:p>
            <a:pPr algn="ctr"/>
            <a:endParaRPr lang="es-419" sz="4000" b="1" dirty="0"/>
          </a:p>
          <a:p>
            <a:pPr algn="ctr"/>
            <a:r>
              <a:rPr lang="es-419" sz="3200" b="1">
                <a:latin typeface="Aptos"/>
              </a:rPr>
              <a:t>Ejemplo práctico</a:t>
            </a:r>
            <a:endParaRPr lang="es-419" sz="32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47CC766-62C4-A097-93F5-CC6F105EEDE8}"/>
              </a:ext>
            </a:extLst>
          </p:cNvPr>
          <p:cNvSpPr txBox="1"/>
          <p:nvPr/>
        </p:nvSpPr>
        <p:spPr>
          <a:xfrm>
            <a:off x="100508" y="1438369"/>
            <a:ext cx="10174110" cy="46235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dirty="0"/>
              <a:t>Puedes terminar la explicación técnica con un ejemplo sencillo.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Sistema experto para diagnosticar un automóvil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Datos introducidos: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El motor no arranca.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Las luces están débiles.</a:t>
            </a:r>
          </a:p>
          <a:p>
            <a:pPr algn="just">
              <a:lnSpc>
                <a:spcPct val="150000"/>
              </a:lnSpc>
            </a:pPr>
            <a:endParaRPr lang="es-419" dirty="0"/>
          </a:p>
          <a:p>
            <a:pPr algn="just">
              <a:lnSpc>
                <a:spcPct val="150000"/>
              </a:lnSpc>
            </a:pPr>
            <a:r>
              <a:rPr lang="es-419" dirty="0"/>
              <a:t>Regla: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SI motor no arranca</a:t>
            </a:r>
          </a:p>
          <a:p>
            <a:pPr algn="just">
              <a:lnSpc>
                <a:spcPct val="150000"/>
              </a:lnSpc>
            </a:pPr>
            <a:r>
              <a:rPr lang="es-419" dirty="0"/>
              <a:t>Y luces débiles</a:t>
            </a:r>
          </a:p>
          <a:p>
            <a:pPr algn="just">
              <a:lnSpc>
                <a:spcPct val="150000"/>
              </a:lnSpc>
            </a:pPr>
            <a:endParaRPr lang="es-419" dirty="0">
              <a:cs typeface="Poppins Light"/>
            </a:endParaRPr>
          </a:p>
          <a:p>
            <a:pPr algn="just">
              <a:lnSpc>
                <a:spcPct val="150000"/>
              </a:lnSpc>
            </a:pPr>
            <a:r>
              <a:rPr lang="es-419" dirty="0"/>
              <a:t>ENTONCES batería baja.</a:t>
            </a:r>
            <a:endParaRPr lang="es-419" dirty="0">
              <a:cs typeface="Poppins Ligh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1C65CB-D3A0-5EFD-2874-ADCA4D0C4E79}"/>
              </a:ext>
            </a:extLst>
          </p:cNvPr>
          <p:cNvSpPr txBox="1"/>
          <p:nvPr/>
        </p:nvSpPr>
        <p:spPr>
          <a:xfrm>
            <a:off x="5995202" y="1699847"/>
            <a:ext cx="609600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419" b="1" dirty="0">
                <a:ea typeface="+mn-lt"/>
                <a:cs typeface="+mn-lt"/>
              </a:rPr>
              <a:t>Proceso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Usuario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   ↓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Introduce síntomas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   ↓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Base de conocimiento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   ↓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Motor de inferencia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   ↓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Aplica la regla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   ↓</a:t>
            </a:r>
            <a:endParaRPr lang="es-MX" dirty="0"/>
          </a:p>
          <a:p>
            <a:pPr algn="ctr"/>
            <a:r>
              <a:rPr lang="es-419" dirty="0">
                <a:ea typeface="+mn-lt"/>
                <a:cs typeface="+mn-lt"/>
              </a:rPr>
              <a:t>Conclusión:</a:t>
            </a:r>
            <a:endParaRPr lang="es-MX" dirty="0">
              <a:cs typeface="Poppins Light"/>
            </a:endParaRPr>
          </a:p>
          <a:p>
            <a:pPr algn="just"/>
            <a:r>
              <a:rPr lang="es-419" dirty="0">
                <a:ea typeface="+mn-lt"/>
                <a:cs typeface="+mn-lt"/>
              </a:rPr>
              <a:t>posible batería baja</a:t>
            </a:r>
            <a:endParaRPr lang="es-MX" dirty="0">
              <a:cs typeface="Poppins Light"/>
            </a:endParaRPr>
          </a:p>
          <a:p>
            <a:pPr algn="just"/>
            <a:r>
              <a:rPr lang="es-419" dirty="0">
                <a:ea typeface="+mn-lt"/>
                <a:cs typeface="+mn-lt"/>
              </a:rPr>
              <a:t>Esto permite que el público vea </a:t>
            </a:r>
            <a:r>
              <a:rPr lang="es-419" b="1" dirty="0">
                <a:ea typeface="+mn-lt"/>
                <a:cs typeface="+mn-lt"/>
              </a:rPr>
              <a:t>cómo se relacionan conocimiento, base de conocimiento y motor de inferencia</a:t>
            </a:r>
            <a:r>
              <a:rPr lang="es-419" dirty="0">
                <a:ea typeface="+mn-lt"/>
                <a:cs typeface="+mn-lt"/>
              </a:rPr>
              <a:t>.</a:t>
            </a:r>
            <a:endParaRPr lang="es-MX" dirty="0">
              <a:cs typeface="Poppins Light"/>
            </a:endParaRPr>
          </a:p>
          <a:p>
            <a:pPr algn="just"/>
            <a:endParaRPr lang="es-MX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0626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1AC1-6815-E047-D3FD-437A6C69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156" y="717732"/>
            <a:ext cx="4361688" cy="787684"/>
          </a:xfrm>
        </p:spPr>
        <p:txBody>
          <a:bodyPr/>
          <a:lstStyle/>
          <a:p>
            <a:pPr algn="ctr"/>
            <a:r>
              <a:rPr lang="es-419" sz="3600" b="1" dirty="0">
                <a:latin typeface="Amasis MT Pro Light" panose="02040304050005020304" pitchFamily="18" charset="0"/>
                <a:ea typeface="+mj-lt"/>
                <a:cs typeface="+mj-lt"/>
              </a:rPr>
              <a:t>Conclusión</a:t>
            </a:r>
            <a:endParaRPr lang="es-MX" sz="3600" b="1" dirty="0">
              <a:latin typeface="Amasis MT Pro Light" panose="02040304050005020304" pitchFamily="18" charset="0"/>
            </a:endParaRPr>
          </a:p>
          <a:p>
            <a:endParaRPr lang="es-MX" sz="3600" b="1" dirty="0">
              <a:latin typeface="Amasis MT Pro Light" panose="020403040500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9C332C-8EC2-883D-38A2-FF5C8FF724F5}"/>
              </a:ext>
            </a:extLst>
          </p:cNvPr>
          <p:cNvSpPr txBox="1"/>
          <p:nvPr/>
        </p:nvSpPr>
        <p:spPr>
          <a:xfrm>
            <a:off x="573202" y="1699309"/>
            <a:ext cx="10778740" cy="4440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419" b="1" dirty="0">
                <a:latin typeface="Amasis MT Pro Light" panose="02040304050005020304" pitchFamily="18" charset="0"/>
              </a:rPr>
              <a:t>Los sistemas expertos representan una etapa fundamental en la evolución de la Inteligencia Artificial.</a:t>
            </a:r>
            <a:endParaRPr lang="es-MX" b="1" dirty="0">
              <a:latin typeface="Amasis MT Pro Light" panose="020403040500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s-419" b="1" dirty="0">
                <a:latin typeface="Amasis MT Pro Light" panose="02040304050005020304" pitchFamily="18" charset="0"/>
              </a:rPr>
              <a:t>Su funcionamiento se basa en utilizar conocimiento especializado y mecanismos de inferencia para resolver problemas dentro de dominios específicos.</a:t>
            </a:r>
            <a:endParaRPr lang="es-419" b="1" dirty="0">
              <a:latin typeface="Amasis MT Pro Light" panose="02040304050005020304" pitchFamily="18" charset="0"/>
              <a:cs typeface="Poppins Light"/>
            </a:endParaRPr>
          </a:p>
          <a:p>
            <a:pPr algn="just">
              <a:lnSpc>
                <a:spcPct val="200000"/>
              </a:lnSpc>
            </a:pPr>
            <a:endParaRPr lang="es-419" b="1" dirty="0">
              <a:latin typeface="Amasis MT Pro Light" panose="020403040500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s-419" b="1" dirty="0">
                <a:latin typeface="Amasis MT Pro Light" panose="02040304050005020304" pitchFamily="18" charset="0"/>
              </a:rPr>
              <a:t>Aunque actualmente existen técnicas como el aprendizaje profundo y la IA generativa, los conceptos de conocimiento, reglas, bases de conocimiento e inferencia siguen siendo fundamentales para comprender la Inteligencia Artificial.</a:t>
            </a:r>
            <a:endParaRPr lang="es-419" b="1" dirty="0">
              <a:latin typeface="Amasis MT Pro Light" panose="02040304050005020304" pitchFamily="18" charset="0"/>
              <a:cs typeface="Poppins Light"/>
            </a:endParaRPr>
          </a:p>
          <a:p>
            <a:pPr algn="ctr">
              <a:lnSpc>
                <a:spcPct val="200000"/>
              </a:lnSpc>
            </a:pPr>
            <a:endParaRPr lang="es-MX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319A-DD58-A0F4-D608-EF5270D3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B6C04-8DE8-89E7-10FC-1B3185ACC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762" y="637823"/>
            <a:ext cx="9004880" cy="709385"/>
          </a:xfrm>
        </p:spPr>
        <p:txBody>
          <a:bodyPr/>
          <a:lstStyle/>
          <a:p>
            <a:pPr algn="ctr"/>
            <a:r>
              <a:rPr lang="es-419" sz="3200" b="1" dirty="0">
                <a:latin typeface="Amasis MT Pro Light" panose="02040304050005020304" pitchFamily="18" charset="0"/>
                <a:ea typeface="+mj-lt"/>
                <a:cs typeface="+mj-lt"/>
              </a:rPr>
              <a:t>Referencias</a:t>
            </a:r>
            <a:endParaRPr lang="es-MX" b="1" dirty="0">
              <a:latin typeface="Amasis MT Pro Light" panose="02040304050005020304" pitchFamily="18" charset="0"/>
            </a:endParaRPr>
          </a:p>
          <a:p>
            <a:pPr algn="ctr"/>
            <a:endParaRPr lang="es-419" sz="3200" b="1" dirty="0">
              <a:latin typeface="Amasis MT Pro Light" panose="020403040500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526097-201E-01B6-5057-6C70DDC9E705}"/>
              </a:ext>
            </a:extLst>
          </p:cNvPr>
          <p:cNvSpPr txBox="1"/>
          <p:nvPr/>
        </p:nvSpPr>
        <p:spPr>
          <a:xfrm>
            <a:off x="760623" y="1347208"/>
            <a:ext cx="1017411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Stanford Institute for Human-Centered Artificial Intelligence. </a:t>
            </a:r>
            <a:r>
              <a:rPr lang="en-US" i="1" dirty="0">
                <a:ea typeface="+mn-lt"/>
                <a:cs typeface="+mn-lt"/>
              </a:rPr>
              <a:t>What is an Expert System?</a:t>
            </a:r>
            <a:r>
              <a:rPr lang="en-US" dirty="0">
                <a:ea typeface="+mn-lt"/>
                <a:cs typeface="+mn-lt"/>
              </a:rPr>
              <a:t> </a:t>
            </a:r>
            <a:endParaRPr lang="es-MX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Nilsson, N. J. </a:t>
            </a:r>
            <a:r>
              <a:rPr lang="en-US" i="1" dirty="0">
                <a:ea typeface="+mn-lt"/>
                <a:cs typeface="+mn-lt"/>
              </a:rPr>
              <a:t>The Quest for Artificial Intelligence: A History of Ideas and Achievements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s-419" dirty="0">
                <a:ea typeface="+mn-lt"/>
                <a:cs typeface="+mn-lt"/>
              </a:rPr>
              <a:t>Stanford </a:t>
            </a:r>
            <a:r>
              <a:rPr lang="es-419" dirty="0" err="1">
                <a:ea typeface="+mn-lt"/>
                <a:cs typeface="+mn-lt"/>
              </a:rPr>
              <a:t>University</a:t>
            </a:r>
            <a:r>
              <a:rPr lang="es-419" dirty="0">
                <a:ea typeface="+mn-lt"/>
                <a:cs typeface="+mn-lt"/>
              </a:rPr>
              <a:t>. </a:t>
            </a:r>
            <a:endParaRPr lang="es-419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Purdue University, Department of Computer Science. </a:t>
            </a:r>
            <a:r>
              <a:rPr lang="en-US" i="1" dirty="0">
                <a:ea typeface="+mn-lt"/>
                <a:cs typeface="+mn-lt"/>
              </a:rPr>
              <a:t>CS 471: Introduction to Artificial Intelligence</a:t>
            </a:r>
            <a:r>
              <a:rPr lang="en-US" dirty="0">
                <a:ea typeface="+mn-lt"/>
                <a:cs typeface="+mn-lt"/>
              </a:rPr>
              <a:t>. </a:t>
            </a:r>
            <a:endParaRPr lang="es-419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Stanford University, Edward A. Feigenbaum Collection. </a:t>
            </a:r>
            <a:r>
              <a:rPr lang="es-419" dirty="0">
                <a:ea typeface="+mn-lt"/>
                <a:cs typeface="+mn-lt"/>
              </a:rPr>
              <a:t>Material histórico sobre DENDRAL y MYCIN. </a:t>
            </a:r>
            <a:endParaRPr lang="es-419" dirty="0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University of Central Florida. </a:t>
            </a:r>
            <a:r>
              <a:rPr lang="en-US" i="1" dirty="0">
                <a:ea typeface="+mn-lt"/>
                <a:cs typeface="+mn-lt"/>
              </a:rPr>
              <a:t>Development of a Bi-Directional Inference Engine</a:t>
            </a:r>
            <a:r>
              <a:rPr lang="en-US" dirty="0">
                <a:ea typeface="+mn-lt"/>
                <a:cs typeface="+mn-lt"/>
              </a:rPr>
              <a:t>.</a:t>
            </a:r>
            <a:endParaRPr lang="es-419" dirty="0"/>
          </a:p>
          <a:p>
            <a:pPr>
              <a:lnSpc>
                <a:spcPct val="200000"/>
              </a:lnSpc>
            </a:pPr>
            <a:endParaRPr lang="es-419" dirty="0"/>
          </a:p>
          <a:p>
            <a:endParaRPr lang="es-419" dirty="0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3130439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1115</Words>
  <Application>Microsoft Office PowerPoint</Application>
  <PresentationFormat>Panorámica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Amasis MT Pro Light</vt:lpstr>
      <vt:lpstr>Aptos</vt:lpstr>
      <vt:lpstr>Arial</vt:lpstr>
      <vt:lpstr>Lora</vt:lpstr>
      <vt:lpstr>Playfair Display Black</vt:lpstr>
      <vt:lpstr>Poppins Light</vt:lpstr>
      <vt:lpstr>Gradient Circle</vt:lpstr>
      <vt:lpstr>SISTEMAS EXPERTOS </vt:lpstr>
      <vt:lpstr>¿Qué es un sistema experto?</vt:lpstr>
      <vt:lpstr>¿para que sirve?</vt:lpstr>
      <vt:lpstr>¿Qué es el conocimiento? </vt:lpstr>
      <vt:lpstr>Ejemplo</vt:lpstr>
      <vt:lpstr>Base de conocimiento</vt:lpstr>
      <vt:lpstr>Motor de inferencia </vt:lpstr>
      <vt:lpstr>Ejemplo</vt:lpstr>
      <vt:lpstr> Arquitectura de un sistema experto </vt:lpstr>
      <vt:lpstr> </vt:lpstr>
      <vt:lpstr>Línea de tiempo</vt:lpstr>
      <vt:lpstr> Tipos de sistemas expertos </vt:lpstr>
      <vt:lpstr>Ventajas y limitaciones </vt:lpstr>
      <vt:lpstr> Ejemplo práctico</vt:lpstr>
      <vt:lpstr>Conclusión </vt:lpstr>
      <vt:lpstr>Referencias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ALISON CABRAL</cp:lastModifiedBy>
  <cp:revision>298</cp:revision>
  <dcterms:created xsi:type="dcterms:W3CDTF">2026-08-29T04:27:05Z</dcterms:created>
  <dcterms:modified xsi:type="dcterms:W3CDTF">2026-08-29T07:06:47Z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